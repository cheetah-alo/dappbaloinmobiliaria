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a772e9606a4d61" /><Relationship Type="http://schemas.openxmlformats.org/officeDocument/2006/relationships/extended-properties" Target="/docProps/app.xml" Id="R3063fb97d84641df" /><Relationship Type="http://schemas.openxmlformats.org/officeDocument/2006/relationships/officeDocument" Target="/ppt/presentation.xml" Id="R21c3701baa504df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0620c456ab4e81"/>
  </p:sldMasterIdLst>
  <p:notesMasterIdLst>
    <p:notesMasterId xmlns:r="http://schemas.openxmlformats.org/officeDocument/2006/relationships" r:id="R3d9c4e5ecda04f6a"/>
  </p:notesMasterIdLst>
  <p:sldIdLst>
    <p:sldId xmlns:r="http://schemas.openxmlformats.org/officeDocument/2006/relationships" id="256" r:id="Rfdcd42228597420a"/>
    <p:sldId xmlns:r="http://schemas.openxmlformats.org/officeDocument/2006/relationships" id="257" r:id="R6faa16a35ee24559"/>
    <p:sldId xmlns:r="http://schemas.openxmlformats.org/officeDocument/2006/relationships" id="258" r:id="R3fe471c82c534e50"/>
    <p:sldId xmlns:r="http://schemas.openxmlformats.org/officeDocument/2006/relationships" id="259" r:id="Re2768cec8ac84c59"/>
    <p:sldId xmlns:r="http://schemas.openxmlformats.org/officeDocument/2006/relationships" id="260" r:id="R975261f235e044f5"/>
    <p:sldId xmlns:r="http://schemas.openxmlformats.org/officeDocument/2006/relationships" id="261" r:id="Re4f2331e663a41c7"/>
    <p:sldId xmlns:r="http://schemas.openxmlformats.org/officeDocument/2006/relationships" id="262" r:id="Rc54d8bb71caf45e9"/>
    <p:sldId xmlns:r="http://schemas.openxmlformats.org/officeDocument/2006/relationships" id="263" r:id="Ra114d166a27f4b3d"/>
    <p:sldId xmlns:r="http://schemas.openxmlformats.org/officeDocument/2006/relationships" id="264" r:id="R673c3637ea9f4ef5"/>
    <p:sldId xmlns:r="http://schemas.openxmlformats.org/officeDocument/2006/relationships" id="265" r:id="R00abe512de1b48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b787480f864008" /><Relationship Type="http://schemas.openxmlformats.org/officeDocument/2006/relationships/slideMaster" Target="/ppt/slideMasters/slideMaster1.xml" Id="R780620c456ab4e81" /><Relationship Type="http://schemas.openxmlformats.org/officeDocument/2006/relationships/notesMaster" Target="/ppt/notesMasters/notesMaster1.xml" Id="R3d9c4e5ecda04f6a" /><Relationship Type="http://schemas.openxmlformats.org/officeDocument/2006/relationships/presProps" Target="/ppt/presProps.xml" Id="Rbfab9f4f8eb248f6" /><Relationship Type="http://schemas.openxmlformats.org/officeDocument/2006/relationships/tableStyles" Target="/ppt/tableStyles.xml" Id="R198539ecd1f34eb3" /><Relationship Type="http://schemas.openxmlformats.org/officeDocument/2006/relationships/slide" Target="/ppt/slides/slide1.xml" Id="Rfdcd42228597420a" /><Relationship Type="http://schemas.openxmlformats.org/officeDocument/2006/relationships/slide" Target="/ppt/slides/slide2.xml" Id="R6faa16a35ee24559" /><Relationship Type="http://schemas.openxmlformats.org/officeDocument/2006/relationships/slide" Target="/ppt/slides/slide3.xml" Id="R3fe471c82c534e50" /><Relationship Type="http://schemas.openxmlformats.org/officeDocument/2006/relationships/slide" Target="/ppt/slides/slide4.xml" Id="Re2768cec8ac84c59" /><Relationship Type="http://schemas.openxmlformats.org/officeDocument/2006/relationships/slide" Target="/ppt/slides/slide5.xml" Id="R975261f235e044f5" /><Relationship Type="http://schemas.openxmlformats.org/officeDocument/2006/relationships/slide" Target="/ppt/slides/slide6.xml" Id="Re4f2331e663a41c7" /><Relationship Type="http://schemas.openxmlformats.org/officeDocument/2006/relationships/slide" Target="/ppt/slides/slide7.xml" Id="Rc54d8bb71caf45e9" /><Relationship Type="http://schemas.openxmlformats.org/officeDocument/2006/relationships/slide" Target="/ppt/slides/slide8.xml" Id="Ra114d166a27f4b3d" /><Relationship Type="http://schemas.openxmlformats.org/officeDocument/2006/relationships/slide" Target="/ppt/slides/slide9.xml" Id="R673c3637ea9f4ef5" /><Relationship Type="http://schemas.openxmlformats.org/officeDocument/2006/relationships/slide" Target="/ppt/slides/slide10.xml" Id="R00abe512de1b48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f40c9de1d54f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65c96305ce47ea" /><Relationship Type="http://schemas.openxmlformats.org/officeDocument/2006/relationships/notesMaster" Target="/ppt/notesMasters/notesMaster1.xml" Id="R6f3bfb5de7054e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df6bed8a6e4d52" /><Relationship Type="http://schemas.openxmlformats.org/officeDocument/2006/relationships/notesMaster" Target="/ppt/notesMasters/notesMaster1.xml" Id="R836401cfae444a5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eda072ae6984128" /><Relationship Type="http://schemas.openxmlformats.org/officeDocument/2006/relationships/notesMaster" Target="/ppt/notesMasters/notesMaster1.xml" Id="R813a30916ebe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d7606bfe642fe" /><Relationship Type="http://schemas.openxmlformats.org/officeDocument/2006/relationships/notesMaster" Target="/ppt/notesMasters/notesMaster1.xml" Id="R13bdc8e484fb48a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e892e4cfd144ff" /><Relationship Type="http://schemas.openxmlformats.org/officeDocument/2006/relationships/notesMaster" Target="/ppt/notesMasters/notesMaster1.xml" Id="Rba81dc5409f1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1ba0aeeb74a48af" /><Relationship Type="http://schemas.openxmlformats.org/officeDocument/2006/relationships/notesMaster" Target="/ppt/notesMasters/notesMaster1.xml" Id="Rea8dedba999545c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fcfd1b321843e7" /><Relationship Type="http://schemas.openxmlformats.org/officeDocument/2006/relationships/notesMaster" Target="/ppt/notesMasters/notesMaster1.xml" Id="R242224239da141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0eb215478dc42bf" /><Relationship Type="http://schemas.openxmlformats.org/officeDocument/2006/relationships/notesMaster" Target="/ppt/notesMasters/notesMaster1.xml" Id="R285ae18524aa4e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5c113d190e4848" /><Relationship Type="http://schemas.openxmlformats.org/officeDocument/2006/relationships/notesMaster" Target="/ppt/notesMasters/notesMaster1.xml" Id="Rd92618e71c3643f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56de82b6da45bc" /><Relationship Type="http://schemas.openxmlformats.org/officeDocument/2006/relationships/notesMaster" Target="/ppt/notesMasters/notesMaster1.xml" Id="R6f72d0cb0a3d4d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Promesa y objetivo: plan de piloto Balo aprobado por el usuario, 2026-08-29.</a:t>
            </a:r>
          </a:p>
          <a:p xmlns:a="http://schemas.openxmlformats.org/drawingml/2006/main">
            <a:r>
              <a:t>Imagen: public/images/familia-en-casa-pexels-andrea-piacquadio.jpg, fotografía de Andrea Piacquadio en Pexels; licencia: https://www.pexels.com/license/.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Problema y enfoque: plan de piloto Balo aprobado por el usuario, 2026-08-29. No se incluyen resultados de mercado ni casos inventados.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Promesa de marca: plan de piloto Balo aprobado por el usuario, 2026-08-29. Dirección visual: docs/design-system.md.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Alcance de web pública, catálogo y portal interno: docs/property-catalog.md y docs/property-publishing.md, revisados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Flujo de publicación, catálogo, atribución y comportamiento ante fallos: docs/property-publishing.md y docs/architecture.md, revisados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Roles, asignaciones y aprobaciones: plan del gestor de propiedades Balo, revisado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Consentimiento, R2 privado, Sheets, auditoría y conectores: docs/property-publishing.md y docs/architecture.md, revisados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Titularidad de cuentas, dominio y dependencias: docs/deployment/activation-checklist.md y docs/decisions/README.md, revisados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Coste inicial y umbrales: decisión de piloto Balo aprobada por el usuario, 2026-08-29.</a:t>
            </a:r>
          </a:p>
          <a:p xmlns:a="http://schemas.openxmlformats.org/drawingml/2006/main">
            <a:r>
              <a:t>Cloudflare Workers pricing: https://www.cloudflare.com/en-in/plans/developer-platform-pricing/ (verificar al activar).</a:t>
            </a:r>
          </a:p>
          <a:p xmlns:a="http://schemas.openxmlformats.org/drawingml/2006/main">
            <a:r>
              <a:t>Cloudflare Access pricing: https://www.cloudflare.com/es-la/sase/products/access/ (verificar al activar).</a:t>
            </a:r>
          </a:p>
          <a:p xmlns:a="http://schemas.openxmlformats.org/drawingml/2006/main">
            <a:r>
              <a:t>R2 pricing: https://developers.cloudflare.com/r2/pricing/ (verificar al activar).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Decisiones de validación y activación: docs/decisions/README.md, docs/deployment/activation-checklist.md y plan del gestor de propiedades Balo, revisados 2026-08-30.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a66042ac547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6716dfd3c646fe" /><Relationship Type="http://schemas.openxmlformats.org/officeDocument/2006/relationships/slideLayout" Target="/ppt/slideLayouts/slideLayout1.xml" Id="R88b5e9ac3bbc4b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b5e9ac3bbc4b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61daab5a74620" /><Relationship Type="http://schemas.openxmlformats.org/officeDocument/2006/relationships/image" Target="/ppt/media/image.jpeg" Id="R72e2090fe1904f4e" /><Relationship Type="http://schemas.openxmlformats.org/officeDocument/2006/relationships/notesSlide" Target="/ppt/notesSlides/notesSlide1.xml" Id="Rd84614a9d92c4b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f8cb77ab164999" /><Relationship Type="http://schemas.openxmlformats.org/officeDocument/2006/relationships/notesSlide" Target="/ppt/notesSlides/notesSlide2.xml" Id="R8515765d854e40e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8d612c5d9405f" /><Relationship Type="http://schemas.openxmlformats.org/officeDocument/2006/relationships/notesSlide" Target="/ppt/notesSlides/notesSlide3.xml" Id="R3a855de109114a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cdc89d11104629" /><Relationship Type="http://schemas.openxmlformats.org/officeDocument/2006/relationships/notesSlide" Target="/ppt/notesSlides/notesSlide4.xml" Id="R72b25c3ec48040d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6900b8b69d45ec" /><Relationship Type="http://schemas.openxmlformats.org/officeDocument/2006/relationships/notesSlide" Target="/ppt/notesSlides/notesSlide5.xml" Id="R42e0cee318c74a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22086d9e8c4bd9" /><Relationship Type="http://schemas.openxmlformats.org/officeDocument/2006/relationships/notesSlide" Target="/ppt/notesSlides/notesSlide6.xml" Id="Re9c60f9010fa45d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1836a6e2449dc" /><Relationship Type="http://schemas.openxmlformats.org/officeDocument/2006/relationships/notesSlide" Target="/ppt/notesSlides/notesSlide7.xml" Id="Rdec540f0ac874e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4c1946371d44a5" /><Relationship Type="http://schemas.openxmlformats.org/officeDocument/2006/relationships/notesSlide" Target="/ppt/notesSlides/notesSlide8.xml" Id="Re98b9143c01245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559802fb074015" /><Relationship Type="http://schemas.openxmlformats.org/officeDocument/2006/relationships/notesSlide" Target="/ppt/notesSlides/notesSlide9.xml" Id="Re663bc95f1c6442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b2cdfa37604d3d" /><Relationship Type="http://schemas.openxmlformats.org/officeDocument/2006/relationships/notesSlide" Target="/ppt/notesSlides/notesSlide10.xml" Id="R59f3432e7ff04d4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A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2090fe1904f4e"/>
          <a:srcRect xmlns:a="http://schemas.openxmlformats.org/drawingml/2006/main" l="24769" t="0" r="247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CC30BF-E2C1-4A47-8ACC-A08161BDA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0"/>
            <a:ext cx="5191125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903D83-CC2B-49C8-9F36-DC7B63F0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BALO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6EE6-9E08-43C1-B757-CCBE7705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14400"/>
            <a:ext cx="409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ABF7B"/>
                </a:solidFill>
              </a:defRPr>
            </a:pPr>
            <a:r>
              <a:rPr sz="825" b="1" i="0">
                <a:solidFill>
                  <a:srgbClr val="DABF7B"/>
                </a:solidFill>
              </a:rPr>
              <a:t>INMOBILIARIA · SESIÓN DE VALIDACIÓN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531DD-496F-4905-9DCF-904D172E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609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4350" b="1" i="0">
                <a:solidFill>
                  <a:srgbClr val="F4F1EA"/>
                </a:solidFill>
              </a:defRPr>
            </a:pPr>
            <a:r>
              <a:rPr sz="4350" b="1" i="0">
                <a:solidFill>
                  <a:srgbClr val="F4F1EA"/>
                </a:solidFill>
              </a:rPr>
              <a:t>Validar antes de activar.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8DCAD-F99B-4194-AB9E-85AC96370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38500"/>
            <a:ext cx="4572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DCE6E4"/>
                </a:solidFill>
              </a:defRPr>
            </a:pPr>
            <a:r>
              <a:rPr sz="1500" b="0" i="0">
                <a:solidFill>
                  <a:srgbClr val="DCE6E4"/>
                </a:solidFill>
              </a:rPr>
              <a:t>Piloto de captación, catálogo y operación</a:t>
            </a:r>
          </a:p>
          <a:p xmlns:a="http://schemas.openxmlformats.org/drawingml/2006/main">
            <a:pPr algn="l">
              <a:buNone/>
              <a:defRPr sz="1500" b="0" i="0">
                <a:solidFill>
                  <a:srgbClr val="DCE6E4"/>
                </a:solidFill>
              </a:defRPr>
            </a:pPr>
            <a:r>
              <a:rPr sz="1500" b="0" i="0">
                <a:solidFill>
                  <a:srgbClr val="DCE6E4"/>
                </a:solidFill>
              </a:rPr>
              <a:t>30 de agosto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61DEA-3EA6-41EA-BF48-82E9DFD7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1009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45A0-55BF-4D9A-BE0A-FF25B09BD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428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FFFFFF"/>
                </a:solidFill>
              </a:defRPr>
            </a:pPr>
            <a:r>
              <a:rPr sz="1950" b="0" i="1">
                <a:solidFill>
                  <a:srgbClr val="FFFFFF"/>
                </a:solidFill>
              </a:rPr>
              <a:t>Tu propiedad, bien representada.</a:t>
            </a:r>
          </a:p>
          <a:p xmlns:a="http://schemas.openxmlformats.org/drawingml/2006/main">
            <a:pPr algn="l">
              <a:buNone/>
              <a:defRPr sz="1950" b="0" i="1">
                <a:solidFill>
                  <a:srgbClr val="FFFFFF"/>
                </a:solidFill>
              </a:defRPr>
            </a:pPr>
            <a:r>
              <a:rPr sz="1950" b="0" i="1">
                <a:solidFill>
                  <a:srgbClr val="FFFFFF"/>
                </a:solidFill>
              </a:rPr>
              <a:t>Tu decisión, siempre clara.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F9B5D-0E21-450A-BCFA-573C22E5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C6D2D0"/>
                </a:solidFill>
              </a:defRPr>
            </a:pPr>
            <a:r>
              <a:rPr sz="900" b="0" i="0">
                <a:solidFill>
                  <a:srgbClr val="C6D2D0"/>
                </a:solidFill>
              </a:rPr>
              <a:t>OBJETIVO: validar publicación, operación y dependencias a nombre de Orlando.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97170-FEF1-46E1-A9DF-CEB02A2A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B7C5C3"/>
                </a:solidFill>
              </a:defRPr>
            </a:pPr>
            <a:r>
              <a:rPr sz="675" b="1" i="0">
                <a:solidFill>
                  <a:srgbClr val="B7C5C3"/>
                </a:solidFill>
              </a:rPr>
              <a:t>BALO INMOBILIARIA · TALLER DE DECISIONES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E2916-10AE-4468-96F9-EA9F4B8E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DABF7B"/>
                </a:solidFill>
              </a:defRPr>
            </a:pPr>
            <a:r>
              <a:rPr sz="750" b="1" i="0">
                <a:solidFill>
                  <a:srgbClr val="DABF7B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90931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17A790-2086-4E25-8F1F-94BCF630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01 · EL PROBLEMA QUE RESOLVEMOS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29D10-9806-4ED5-957A-530CF1D78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El propietario necesita contexto. Orlando necesita control.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14C05-83BD-4958-A8C6-5938DCE4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2FFCF-5E3B-4667-A004-DCB3989E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523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 i="0">
                <a:solidFill>
                  <a:srgbClr val="67747A"/>
                </a:solidFill>
              </a:defRPr>
            </a:pPr>
            <a:r>
              <a:rPr sz="1575" b="0" i="0">
                <a:solidFill>
                  <a:srgbClr val="67747A"/>
                </a:solidFill>
              </a:rPr>
              <a:t>Balo hace visible lo que ocurre entre la primera consulta, la ficha y la decisión.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4867AA-27C0-45FF-BB27-E36D7714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31432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CEEE8-408B-4D5E-B01B-A1AE73D4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RELACIÓN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8BB64-3B63-4FBD-B3C7-945D25B3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576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Conversación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con respuesta directa.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56C7E-194F-47D9-8CE9-E08479B50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Escucha directa, criterio y un punto de contacto claro.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236A41-0D8C-4171-BE4B-B899BF1C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76625"/>
            <a:ext cx="31432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ECF149-A63A-4A27-9516-65B3FEFA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695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OPERACIÓN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E846D5-757D-4290-8E2A-609DBBBB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576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Información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dispersa.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9651E8-C442-44BF-A60A-BD7F51C9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762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Una fuente común desde el post hasta la oferta.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B90E5E-011E-4508-AA35-107BD4643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76625"/>
            <a:ext cx="3143250" cy="180975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624328-37B4-4F63-80C3-7AF10F0A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2571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DECISIÓN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3B02A-012C-408C-85A9-6F8AEB70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05765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Publicar sin</a:t>
            </a:r>
          </a:p>
          <a:p xmlns:a="http://schemas.openxmlformats.org/drawingml/2006/main">
            <a:pPr algn="l">
              <a:buNone/>
              <a:defRPr sz="1650" b="1" i="0">
                <a:solidFill>
                  <a:srgbClr val="1F2933"/>
                </a:solidFill>
              </a:defRPr>
            </a:pPr>
            <a:r>
              <a:rPr sz="1650" b="1" i="0">
                <a:solidFill>
                  <a:srgbClr val="1F2933"/>
                </a:solidFill>
              </a:rPr>
              <a:t>perder control.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783E9-E818-49C4-B66A-AA9C4EDF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2619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Orlando aprueba los hitos sensibles.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1000F7-3614-47DE-BF27-2CF3B1B6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C8C295-1B3C-4D2A-8092-80379A3E9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77321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8EEE87-7046-4FF0-82B7-606D6539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02 · POSICIONAMIENTO BALO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41FAF-64EB-4E91-BB1C-CE0FAC82A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La promesa se demuestra en cada ficha, conversación y decisión.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483C1C-0369-461D-9824-81414DD4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849087-71D8-4490-A938-16B84F81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685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 i="1">
                <a:solidFill>
                  <a:srgbClr val="203A3F"/>
                </a:solidFill>
              </a:defRPr>
            </a:pPr>
            <a:r>
              <a:rPr sz="3150" b="1" i="1">
                <a:solidFill>
                  <a:srgbClr val="203A3F"/>
                </a:solidFill>
              </a:rPr>
              <a:t>“Tu propiedad, bien representada.</a:t>
            </a:r>
          </a:p>
          <a:p xmlns:a="http://schemas.openxmlformats.org/drawingml/2006/main">
            <a:pPr algn="l">
              <a:buNone/>
              <a:defRPr sz="3150" b="1" i="1">
                <a:solidFill>
                  <a:srgbClr val="203A3F"/>
                </a:solidFill>
              </a:defRPr>
            </a:pPr>
            <a:r>
              <a:rPr sz="3150" b="1" i="1">
                <a:solidFill>
                  <a:srgbClr val="203A3F"/>
                </a:solidFill>
              </a:rPr>
              <a:t>Tu decisión, siempre clara.”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08E244-B3E2-4077-A739-7FCEB9D2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219325"/>
            <a:ext cx="2952750" cy="2505075"/>
          </a:xfrm>
          <a:prstGeom xmlns:a="http://schemas.openxmlformats.org/drawingml/2006/main" prst="roundRect">
            <a:avLst>
              <a:gd name="adj" fmla="val 1901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CCC36-E561-4FBB-B344-1AFDC3810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33650"/>
            <a:ext cx="2190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ABF7B"/>
                </a:solidFill>
              </a:defRPr>
            </a:pPr>
            <a:r>
              <a:rPr sz="825" b="1" i="0">
                <a:solidFill>
                  <a:srgbClr val="DABF7B"/>
                </a:solidFill>
              </a:rPr>
              <a:t>LO QUE SE 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4A342-5152-43F5-8C5A-00FEA1684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94322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Cercanía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Fichas cuidadas</a:t>
            </a:r>
          </a:p>
          <a:p xmlns:a="http://schemas.openxmlformats.org/drawingml/2006/main">
            <a:pPr algn="l">
              <a:buNone/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Seguimiento visible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7328B-5E16-4807-BF59-430B0961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A66B2B"/>
                </a:solidFill>
              </a:defRPr>
            </a:pPr>
            <a:r>
              <a:rPr sz="825" b="1" i="0">
                <a:solidFill>
                  <a:srgbClr val="A66B2B"/>
                </a:solidFill>
              </a:rPr>
              <a:t>LO QUE LO SOSTIENE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4DAEAC-2471-42AE-942E-FF66A7B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F2933"/>
                </a:solidFill>
              </a:defRPr>
            </a:pPr>
            <a:r>
              <a:rPr sz="1350" b="1" i="0">
                <a:solidFill>
                  <a:srgbClr val="1F2933"/>
                </a:solidFill>
              </a:rPr>
              <a:t>Método claro · fichas versionadas · aprobación interna · conversación humana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47FC64-5CAF-402D-A1A5-AEC6B123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C1A265-F5B8-4191-9527-B1F5A70A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239970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993FAD-F635-4F71-AFA3-8A65BE3A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03 · ALCANCE DEL PILOTO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DF976F-52F5-440A-8BBB-3E530DBF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Tres piezas que trabajan juntas.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614073-3114-4472-B784-D32397A7C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CA333-3984-4391-9200-ABFBC2814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38400"/>
            <a:ext cx="4800600" cy="276225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7B01BE-72A0-4512-8B4C-72C6F900F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438400"/>
            <a:ext cx="5553075" cy="2762250"/>
          </a:xfrm>
          <a:prstGeom xmlns:a="http://schemas.openxmlformats.org/drawingml/2006/main" prst="roundRect">
            <a:avLst>
              <a:gd name="adj" fmla="val 1724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77C5E-1FAC-439B-8F18-67AA3548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2000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WEB PÚBLICA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204A71-25D2-43C1-AA61-FDFFAF825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3790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1F2933"/>
                </a:solidFill>
              </a:defRPr>
            </a:pPr>
            <a:r>
              <a:rPr sz="2025" b="1" i="0">
                <a:solidFill>
                  <a:srgbClr val="1F2933"/>
                </a:solidFill>
              </a:rPr>
              <a:t>Presentar propiedades</a:t>
            </a:r>
          </a:p>
          <a:p xmlns:a="http://schemas.openxmlformats.org/drawingml/2006/main">
            <a:pPr algn="l">
              <a:buNone/>
              <a:defRPr sz="2025" b="1" i="0">
                <a:solidFill>
                  <a:srgbClr val="1F2933"/>
                </a:solidFill>
              </a:defRPr>
            </a:pPr>
            <a:r>
              <a:rPr sz="2025" b="1" i="0">
                <a:solidFill>
                  <a:srgbClr val="1F2933"/>
                </a:solidFill>
              </a:rPr>
              <a:t>y abrir conversación.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47D00-9F0F-4C12-A78B-E8BE4867E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3714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Catálogo de propiedades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Formulario + WhatsApp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Sin precio por defecto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• Casos autorizados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D59B8-8C26-44F4-ACCD-E4E2162F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622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PORTAL INTERNO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E6F528-BDCE-49BF-993A-10F5B119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81350"/>
            <a:ext cx="423862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Operar y publicar</a:t>
            </a:r>
          </a:p>
          <a:p xmlns:a="http://schemas.openxmlformats.org/drawingml/2006/main">
            <a:pPr algn="l">
              <a:buNone/>
              <a:defRPr sz="1950" b="1" i="0">
                <a:solidFill>
                  <a:srgbClr val="FFFFFF"/>
                </a:solidFill>
              </a:defRPr>
            </a:pPr>
            <a:r>
              <a:rPr sz="1950" b="1" i="0">
                <a:solidFill>
                  <a:srgbClr val="FFFFFF"/>
                </a:solidFill>
              </a:rPr>
              <a:t>sin tocar código.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B5B3A-F807-406C-B398-414A218B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10050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Orlando: revisión y publicación</a:t>
            </a:r>
          </a:p>
          <a:p xmlns:a="http://schemas.openxmlformats.org/drawingml/2006/main">
            <a:pPr algn="l">
              <a:buNone/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Gestores: solo asignados</a:t>
            </a:r>
          </a:p>
          <a:p xmlns:a="http://schemas.openxmlformats.org/drawingml/2006/main">
            <a:pPr algn="l">
              <a:buNone/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Fotos, versiones y auditoría</a:t>
            </a:r>
          </a:p>
          <a:p xmlns:a="http://schemas.openxmlformats.org/drawingml/2006/main">
            <a:pPr algn="l">
              <a:buNone/>
              <a:defRPr sz="975" b="0" i="0">
                <a:solidFill>
                  <a:srgbClr val="DDE7E5"/>
                </a:solidFill>
              </a:defRPr>
            </a:pPr>
            <a:r>
              <a:rPr sz="975" b="0" i="0">
                <a:solidFill>
                  <a:srgbClr val="DDE7E5"/>
                </a:solidFill>
              </a:rPr>
              <a:t>• Falla = seguimiento manual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32AB0-419B-46B3-B02F-61F98C90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8B52AA-5F4A-466C-9420-6949C8CF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793727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2B36B9-C5E0-41EC-93FF-A49E3CEBD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04 · FLUJO TRAZABLE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E72E81-2F58-48E2-93B5-57A5B04C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Cada ficha conserva su origen hasta la decisión.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1D0BAC-0E9B-4771-9CB5-E3BCCA8C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A6F80-3015-4E48-A68A-45FF820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B66A3C"/>
          </a:solidFill>
          <a:ln xmlns:a="http://schemas.openxmlformats.org/drawingml/2006/main" w="9525">
            <a:solidFill>
              <a:srgbClr val="B66A3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78557-6129-4D90-B4B3-6FDE8726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FICHA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6CD35B-7A56-45EF-B9E9-1377A272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datos + fotos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331049-458A-4DDC-8E0A-4354C49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8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441DD4-BAA9-49F4-A7B7-B779BB39B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A66B2B"/>
          </a:solidFill>
          <a:ln xmlns:a="http://schemas.openxmlformats.org/drawingml/2006/main" w="9525">
            <a:solidFill>
              <a:srgbClr val="A66B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27544F-3C30-4901-A350-E2A1D15C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REVISA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F76DC3-AE03-4D31-AAD0-642DC1CE4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precio + aprobación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E9A16-660E-4FEC-80CF-A8BD79B17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B25F08-865C-4BE5-89E6-4D7C41FD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D6A57"/>
          </a:solidFill>
          <a:ln xmlns:a="http://schemas.openxmlformats.org/drawingml/2006/main" w="9525">
            <a:solidFill>
              <a:srgbClr val="2D6A5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C83B65-A709-489B-9B45-17CEBF09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PUBLICA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023211-5746-40D6-AAA3-66A0512D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version +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8211D5-577B-41DA-9936-D57C287E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57B3AE-F3DD-4527-B9E7-0428DFF1D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B3575D-10A7-417B-BDA0-B3EB2724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LEAD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F9AA5E-8DA1-4AE1-BA24-6A2B9DD9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UTM / QR / post_id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B21E8-9A7E-49DB-B86A-5C8EA5E1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6957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0A40B6-11BF-4CA6-A3D1-50957979A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14675"/>
            <a:ext cx="1562100" cy="1190625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F2933"/>
          </a:solidFill>
          <a:ln xmlns:a="http://schemas.openxmlformats.org/drawingml/2006/main" w="9525">
            <a:solidFill>
              <a:srgbClr val="1F293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B466F-146E-48A4-BEC0-FAE92D4AA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343275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OFERTA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CC23C7-DE6F-4B37-8B48-5B49B91D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3771900"/>
            <a:ext cx="1219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5F1E8"/>
                </a:solidFill>
              </a:defRPr>
            </a:pPr>
            <a:r>
              <a:rPr sz="825" b="0" i="0">
                <a:solidFill>
                  <a:srgbClr val="F5F1E8"/>
                </a:solidFill>
              </a:rPr>
              <a:t>visita + 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D174E-6087-41EC-B4E6-69509011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244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67747A"/>
                </a:solidFill>
              </a:defRPr>
            </a:pPr>
            <a:r>
              <a:rPr sz="1350" b="0" i="0">
                <a:solidFill>
                  <a:srgbClr val="67747A"/>
                </a:solidFill>
              </a:rPr>
              <a:t>Si Sheets, R2 o GitHub falla, se conserva la versión pública anterior y se abre seguimiento manual.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E44ACF-0D37-4CEE-A6DC-44401CC05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2D2472-AD6B-4BB3-BBBC-78194FBB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662437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9375F-0252-4FE3-AB57-592ACC48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05 · ROLES Y CONTROL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088D5-C569-4E7F-9D59-4E87F496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El equipo avanza; Orlando decide los hitos sensibles.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F80BD8-ABC9-4450-9B3A-9F413D295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CC3CE-045B-48C2-B2FD-7BF819B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572000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203A3F"/>
          </a:solidFill>
          <a:ln xmlns:a="http://schemas.openxmlformats.org/drawingml/2006/main" w="9525">
            <a:solidFill>
              <a:srgbClr val="203A3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B6E0BE-79BA-4A37-8147-403CA3495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ORLANDO · ADMIN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C5BE1F-6A8E-47BD-B247-443F90AB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384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Supervisa el conjunto</a:t>
            </a:r>
          </a:p>
          <a:p xmlns:a="http://schemas.openxmlformats.org/drawingml/2006/main">
            <a:pPr algn="l">
              <a:buNone/>
              <a:defRPr sz="2250" b="1" i="0">
                <a:solidFill>
                  <a:srgbClr val="FFFFFF"/>
                </a:solidFill>
              </a:defRPr>
            </a:pPr>
            <a:r>
              <a:rPr sz="2250" b="1" i="0">
                <a:solidFill>
                  <a:srgbClr val="FFFFFF"/>
                </a:solidFill>
              </a:rPr>
              <a:t>y aprueba los hitos.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48997-71C6-4FEC-ABF6-EB19C1D0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33825"/>
            <a:ext cx="333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DCE6E4"/>
                </a:solidFill>
              </a:defRPr>
            </a:pPr>
            <a:r>
              <a:rPr sz="1200" b="0" i="0">
                <a:solidFill>
                  <a:srgbClr val="DCE6E4"/>
                </a:solidFill>
              </a:rPr>
              <a:t>Aprueba: precio, fotos, publicación, comisión, descuento y cierre.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7CFD6F-C499-42E5-B21C-CF2B769F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333625"/>
            <a:ext cx="4619625" cy="26670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02B6A9-B014-496A-B605-6AA856F5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38425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GESTORES · USER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EF0829-11D7-4D21-A8BA-24FB651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038475"/>
            <a:ext cx="34766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1F2933"/>
                </a:solidFill>
              </a:defRPr>
            </a:pPr>
            <a:r>
              <a:rPr sz="2250" b="1" i="0">
                <a:solidFill>
                  <a:srgbClr val="1F2933"/>
                </a:solidFill>
              </a:rPr>
              <a:t>Trabajan sobre</a:t>
            </a:r>
          </a:p>
          <a:p xmlns:a="http://schemas.openxmlformats.org/drawingml/2006/main">
            <a:pPr algn="l">
              <a:buNone/>
              <a:defRPr sz="2250" b="1" i="0">
                <a:solidFill>
                  <a:srgbClr val="1F2933"/>
                </a:solidFill>
              </a:defRPr>
            </a:pPr>
            <a:r>
              <a:rPr sz="2250" b="1" i="0">
                <a:solidFill>
                  <a:srgbClr val="1F2933"/>
                </a:solidFill>
              </a:rPr>
              <a:t>lo que tienen asignado.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4F1695-A0B7-42D6-8019-31AD8C20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33825"/>
            <a:ext cx="3524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7747A"/>
                </a:solidFill>
              </a:defRPr>
            </a:pPr>
            <a:r>
              <a:rPr sz="1200" b="0" i="0">
                <a:solidFill>
                  <a:srgbClr val="67747A"/>
                </a:solidFill>
              </a:rPr>
              <a:t>Editan propiedades asignadas y solicitan revisión; no publican ni aprueban.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A7A716-B7A1-4A48-9C7A-F2C514CFB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48300"/>
            <a:ext cx="10001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03A3F"/>
                </a:solidFill>
              </a:defRPr>
            </a:pPr>
            <a:r>
              <a:rPr sz="1050" b="1" i="0">
                <a:solidFill>
                  <a:srgbClr val="203A3F"/>
                </a:solidFill>
              </a:rPr>
              <a:t>RECOMENDACIÓN: empezar con dos perfiles y añadir permisos solo ante una necesidad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57A784-6B53-4EE2-B47D-68B81E74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8CC57F-C707-4B09-B463-78A2E39E6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88868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18B8C9-B99A-4B72-B159-E6D0C143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06 · DATOS Y CANALES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AE4F72-C806-44F2-8B2A-50643514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Datos mínimos, medios protegidos y fallos visibles.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AA2DB-BCAE-423B-B22E-6D781D689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56773-5BE2-4899-B95F-08BEFB40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D4461A-6EC0-44C3-9FD9-A7C4C844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5C16E8-4E61-4478-9AF2-69F6472A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Formulario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5A446-D0DC-4001-9458-8A1203EA3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Nombre, teléfono, necesidad, zona y consentimiento.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3CC492-3E6C-4924-A43F-5A0FF1E4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CE893-4F9C-4265-872E-EC29EA60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C98BA8-06CF-42BF-8FE6-E6BF2899D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Worker + R2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D3A3DA-7129-4D8E-8B5F-1968AD71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Valida formato, permisos, firma y guarda fotos privadas.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478BA1-120D-4CF5-9F0B-DFEEDA6CA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BBE99-6AA0-48EE-B072-FCD7A168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68ECF4-61AF-4564-B6A9-8A68D4697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Google Sheets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340261-2C39-4D24-A52A-FDA641A9F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Registro de leads, propiedades, fotos, decisiones y auditoría.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071BF6-6DF5-4177-BFD2-22317BE4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628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 i="0">
                <a:solidFill>
                  <a:srgbClr val="C8A24A"/>
                </a:solidFill>
              </a:defRPr>
            </a:pPr>
            <a:r>
              <a:rPr sz="2100" b="1" i="0">
                <a:solidFill>
                  <a:srgbClr val="C8A24A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AB6003-DAF6-4D97-BA56-945499AE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086100"/>
            <a:ext cx="22383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B874E-FB0B-456B-9D5D-CADFD635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223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F2933"/>
                </a:solidFill>
              </a:defRPr>
            </a:pPr>
            <a:r>
              <a:rPr sz="1425" b="1" i="0">
                <a:solidFill>
                  <a:srgbClr val="1F2933"/>
                </a:solidFill>
              </a:rPr>
              <a:t>Canales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23B53-D065-420F-B7CD-D3CBB5B0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62375"/>
            <a:ext cx="2238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67747A"/>
                </a:solidFill>
              </a:defRPr>
            </a:pPr>
            <a:r>
              <a:rPr sz="1050" b="0" i="0">
                <a:solidFill>
                  <a:srgbClr val="67747A"/>
                </a:solidFill>
              </a:rPr>
              <a:t>WhatsApp + registro manual al inicio; APIs solo con credenciales oficiales.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F22D80-86B5-4FCA-A612-BE84A0338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00650"/>
            <a:ext cx="10668000" cy="55245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1ED"/>
          </a:solidFill>
          <a:ln xmlns:a="http://schemas.openxmlformats.org/drawingml/2006/main" w="9525">
            <a:solidFill>
              <a:srgbClr val="D7E0D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EF9BE-870F-4183-AA5E-BC910B0DC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381625"/>
            <a:ext cx="1009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D6A57"/>
                </a:solidFill>
              </a:defRPr>
            </a:pPr>
            <a:r>
              <a:rPr sz="1050" b="1" i="0">
                <a:solidFill>
                  <a:srgbClr val="2D6A57"/>
                </a:solidFill>
              </a:rPr>
              <a:t>Nunca se confirma una acción si no queda registrada; el respaldo manual conserva trazabilidad.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E7B246-C8AA-4CFE-B2EA-86BE7DB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2A4FB5-F156-43FF-A10F-894533FE8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19777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1E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49D929-909E-4F5C-BAE7-341E3D18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07 · TITULARIDAD Y DEPENDENCIAS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C367CA-863B-4746-BF07-AA484EC64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La propiedad del sistema no puede depender del equipo técnico.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8D887-4C85-426D-83F1-C177EA89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FE888-DD2A-4AE0-9023-25D91FA87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Recomendación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F233D4-D51C-43DC-908B-55A3F6EF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647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75" b="1" i="0">
                <a:solidFill>
                  <a:srgbClr val="203A3F"/>
                </a:solidFill>
              </a:defRPr>
            </a:pPr>
            <a:r>
              <a:rPr sz="2475" b="1" i="0">
                <a:solidFill>
                  <a:srgbClr val="203A3F"/>
                </a:solidFill>
              </a:rPr>
              <a:t>Todo recurso operativo y su recuperación quedan a nombre de Orlando.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A099A8-07FE-41DE-95D7-E561560DF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718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BA666D-E419-4AB6-A977-9C3E4E86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861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Dominio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7B89D2-7B11-407F-9CA0-48B175D8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861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Registro, renovación y DNS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827DB-175A-4BA4-88FA-F6781C2D4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861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095885-16F3-4D06-BD23-D23646073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19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2742B6-CA2B-42EE-834C-58FE162E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862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GitHub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5985D-B0D0-4E01-BD10-9B055F99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8622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Repositorio y GitHub Pages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E9F0F6-24E0-4898-8B1D-8DE03E34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0862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D197F-1EF9-4138-B733-C404F968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719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113738-1019-4A5B-A77F-9DCBBE8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86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Cloudflare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1D2A0C-9548-4CBD-8A4A-A79C56A5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862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Access, Worker y R2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18FA71-3785-4E93-8C5E-1B33E4E8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4862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E05DA8-8C5A-4FA9-84EE-F9A0BF9D0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7202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9A088-C929-42ED-97D5-F46BBA24B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8632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Google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6E5015-8D06-42B0-8357-1E00935D1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8632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Sheets, Drive y Apps Script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D2EBD2-3EE5-4572-A9FD-37F94D06B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88632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B87E06-E855-4497-B404-6A0822D2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72075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141D6B-726E-44C4-B6AF-BF98E6DB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863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F2933"/>
                </a:solidFill>
              </a:defRPr>
            </a:pPr>
            <a:r>
              <a:rPr sz="1050" b="1" i="0">
                <a:solidFill>
                  <a:srgbClr val="1F2933"/>
                </a:solidFill>
              </a:rPr>
              <a:t>Canales/API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F52D2D-01DD-41E3-90D9-F1D3B622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86375"/>
            <a:ext cx="466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7747A"/>
                </a:solidFill>
              </a:defRPr>
            </a:pPr>
            <a:r>
              <a:rPr sz="975" b="0" i="0">
                <a:solidFill>
                  <a:srgbClr val="67747A"/>
                </a:solidFill>
              </a:rPr>
              <a:t>WhatsApp, APIs y credenciales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A62D6-1C49-4F95-B17A-1CA6B149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5286375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203A3F"/>
                </a:solidFill>
              </a:defRPr>
            </a:pPr>
            <a:r>
              <a:rPr sz="975" b="1" i="0">
                <a:solidFill>
                  <a:srgbClr val="203A3F"/>
                </a:solidFill>
              </a:rPr>
              <a:t>Orlando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DD77756-F58A-48F9-8F2D-7E87D46D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32B2A6-80D9-44FD-8B66-79D655998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609989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03A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C57C32-B6B9-40A5-825E-F8D48E19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08 · COSTE Y UMBRALES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A3DDDF-9292-4406-A5F4-B6C44826F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F4F1EA"/>
                </a:solidFill>
              </a:defRPr>
            </a:pPr>
            <a:r>
              <a:rPr sz="3375" b="1" i="0">
                <a:solidFill>
                  <a:srgbClr val="F4F1EA"/>
                </a:solidFill>
              </a:rPr>
              <a:t>Piloto en USD 0/mes; pagar solo por un límite medido.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A6593-6D96-40B3-A7F9-F7B3D06AF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87AB9B-84D7-48E5-BA51-488748C2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43150"/>
            <a:ext cx="161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DABF7B"/>
                </a:solidFill>
              </a:defRPr>
            </a:pPr>
            <a:r>
              <a:rPr sz="900" b="1" i="0">
                <a:solidFill>
                  <a:srgbClr val="DABF7B"/>
                </a:solidFill>
              </a:rPr>
              <a:t>PILOTO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3C6DB-1D39-41B5-81A2-CB66BF128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95575"/>
            <a:ext cx="4762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900" b="1" i="0">
                <a:solidFill>
                  <a:srgbClr val="FFFFFF"/>
                </a:solidFill>
              </a:defRPr>
            </a:pPr>
            <a:r>
              <a:rPr sz="3900" b="1" i="0">
                <a:solidFill>
                  <a:srgbClr val="FFFFFF"/>
                </a:solidFill>
              </a:rPr>
              <a:t>USD 0/mes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4C9F21-0B5F-4459-A9AA-FC626ED4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76625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DCE6E4"/>
                </a:solidFill>
              </a:defRPr>
            </a:pPr>
            <a:r>
              <a:rPr sz="1275" b="0" i="0">
                <a:solidFill>
                  <a:srgbClr val="DCE6E4"/>
                </a:solidFill>
              </a:rPr>
              <a:t>GitHub Pages · Workers Free · Access Free · Sheets/Drive existentes · R2 free tier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FFE8E-1376-4EA8-AB84-EF3F55E5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38375"/>
            <a:ext cx="3571875" cy="2667000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2B4B50"/>
          </a:solidFill>
          <a:ln xmlns:a="http://schemas.openxmlformats.org/drawingml/2006/main" w="9525">
            <a:solidFill>
              <a:srgbClr val="5470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8EFB78-5433-4A80-9F7D-7103A3D3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5717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825" b="1" i="0">
                <a:solidFill>
                  <a:srgbClr val="DABF7B"/>
                </a:solidFill>
              </a:defRPr>
            </a:pPr>
            <a:r>
              <a:rPr sz="825" b="1" i="0">
                <a:solidFill>
                  <a:srgbClr val="DABF7B"/>
                </a:solidFill>
              </a:rPr>
              <a:t>CUÁNDO REVISAR UN PLAN DE PAGO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01B487-3EE8-4E2A-81EC-B3DC8AF4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19425"/>
            <a:ext cx="2857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Uso o almacenamiento observado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Más usuarios o soporte formal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Operación que no cabe en Sheets</a:t>
            </a:r>
          </a:p>
          <a:p xmlns:a="http://schemas.openxmlformats.org/drawingml/2006/main">
            <a:pPr algn="l">
              <a:buNone/>
              <a:defRPr sz="1200" b="0" i="0">
                <a:solidFill>
                  <a:srgbClr val="FFFFFF"/>
                </a:solidFill>
              </a:defRPr>
            </a:pPr>
            <a:r>
              <a:rPr sz="1200" b="0" i="0">
                <a:solidFill>
                  <a:srgbClr val="FFFFFF"/>
                </a:solidFill>
              </a:rPr>
              <a:t>• Necesidad de SLA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CD839-EDF5-4969-931A-147AF439B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981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 i="1">
                <a:solidFill>
                  <a:srgbClr val="E9DBC1"/>
                </a:solidFill>
              </a:defRPr>
            </a:pPr>
            <a:r>
              <a:rPr sz="1650" b="0" i="1">
                <a:solidFill>
                  <a:srgbClr val="E9DBC1"/>
                </a:solidFill>
              </a:rPr>
              <a:t>R2 requiere una cuenta de Orlando; no se activa ni factura durante desarrollo sin aprobación.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B2392-D28A-4711-BE13-952A8A2C6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B7C5C3"/>
                </a:solidFill>
              </a:defRPr>
            </a:pPr>
            <a:r>
              <a:rPr sz="675" b="1" i="0">
                <a:solidFill>
                  <a:srgbClr val="B7C5C3"/>
                </a:solidFill>
              </a:rPr>
              <a:t>BALO INMOBILIARIA · TALLER DE DECISIONES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A2363-788E-4F1A-8064-36E682BD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DABF7B"/>
                </a:solidFill>
              </a:defRPr>
            </a:pPr>
            <a:r>
              <a:rPr sz="750" b="1" i="0">
                <a:solidFill>
                  <a:srgbClr val="DABF7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111081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B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CC023AA-3D99-4FC6-A672-9306D70C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34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09 · DECISIONES PARA ORLANDO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E2A92D-3065-4622-9D83-6C32FADB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876300"/>
            <a:ext cx="10287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375" b="1" i="0">
                <a:solidFill>
                  <a:srgbClr val="1F2933"/>
                </a:solidFill>
              </a:defRPr>
            </a:pPr>
            <a:r>
              <a:rPr sz="3375" b="1" i="0">
                <a:solidFill>
                  <a:srgbClr val="1F2933"/>
                </a:solidFill>
              </a:rPr>
              <a:t>Validar ahora; posponer lo que todavía no necesita una decisión.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49205-CB83-4BEE-9AE7-03CB3999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A24A"/>
          </a:solidFill>
          <a:ln xmlns:a="http://schemas.openxmlformats.org/drawingml/2006/main" w="0">
            <a:solidFill>
              <a:srgbClr val="C8A24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75D455-9DF4-4BC0-8940-BF5CCA1F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52650"/>
            <a:ext cx="3714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RECOMENDACIÓN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513AA-1744-4907-A3A4-4575D68B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21907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IMPACTO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BEC75-C60A-4E4B-8828-8EB12D2F2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952625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RESPONSABLE / VALIDACIÓN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2977A3-FF2A-4519-9D45-9A2ED4928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017EB7-0CCE-4C0F-99D0-173A558E1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PROPIEDADES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52CA1-F334-4CC5-B419-EDCE36368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146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Validar datos públicos, fotos y precio “consultar” por defecto.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FAF7CD-0743-4F01-A6CB-C976C9153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146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Define qué puede publicarse y con qué aprobación.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B4EB4-1176-40B7-A92C-596CBE66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717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0FE6F9-A81C-47C4-AF32-8F1644CF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C03EE-8930-4936-9E22-27C4F4B5B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CUENTAS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292534-F52A-4700-91AE-109CC01F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38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Crear GitHub, Google y Cloudflare/R2 a nombre del cliente.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7E8FA-0F09-4088-B2EA-B7569777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385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Mantiene control, recuperación y continuidad.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492465-CE70-427F-95E0-0E50DEC34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2956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DFF4FB-77C0-42B4-99C1-16740EC1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481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493E9F-AF72-4A1E-BFD2-FF5EDBCD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ACCESO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3F21CC-9CE6-466F-976B-85D2CF3D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9624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Confirmar gestores iniciales y alcance por asignación.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2D39B5-47A7-4D64-8AD3-74E242454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624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Evita expedientes ajenos.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AD55E-6671-421D-B472-D3EF1D631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0195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EE3E7D-F7A1-45A0-BF6F-D98E607F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720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4F1EA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9FE656-F967-4E01-8D08-9EEB33C52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CONSENTIMIENTO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694A8-210B-4325-B38C-E946D1BD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6863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Validar texto, WhatsApp y autorización de fotografías.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7F5DAE-9D37-42DC-BD84-DBC80C77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863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Permite captar y publicar con permiso.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D9EFB-C278-4DF8-8269-1B5CB597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434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68D3BA-E08B-40AF-9272-A0BD2B1F5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95900"/>
            <a:ext cx="10668000" cy="647700"/>
          </a:xfrm>
          <a:prstGeom xmlns:a="http://schemas.openxmlformats.org/drawingml/2006/main" prst="roundRect">
            <a:avLst>
              <a:gd name="adj" fmla="val 5882"/>
            </a:avLst>
          </a:prstGeom>
          <a:solidFill xmlns:a="http://schemas.openxmlformats.org/drawingml/2006/main">
            <a:srgbClr val="FCFBF7"/>
          </a:solidFill>
          <a:ln xmlns:a="http://schemas.openxmlformats.org/drawingml/2006/main" w="9525">
            <a:solidFill>
              <a:srgbClr val="D8D0C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1125FD-FD06-4DE7-AB08-1FD7CB6C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A66B2B"/>
                </a:solidFill>
              </a:defRPr>
            </a:pPr>
            <a:r>
              <a:rPr sz="900" b="1" i="0">
                <a:solidFill>
                  <a:srgbClr val="A66B2B"/>
                </a:solidFill>
              </a:rPr>
              <a:t>ACTIVACIÓN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851190-0ECC-4250-ACFF-6DCCB7D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410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1F2933"/>
                </a:solidFill>
              </a:defRPr>
            </a:pPr>
            <a:r>
              <a:rPr sz="1125" b="1" i="0">
                <a:solidFill>
                  <a:srgbClr val="1F2933"/>
                </a:solidFill>
              </a:rPr>
              <a:t>Probar staging; publicar en main solo tras aprobación.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9A1233B-D501-4CE4-871B-8FA45307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410200"/>
            <a:ext cx="2333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7747A"/>
                </a:solidFill>
              </a:defRPr>
            </a:pPr>
            <a:r>
              <a:rPr sz="900" b="0" i="0">
                <a:solidFill>
                  <a:srgbClr val="67747A"/>
                </a:solidFill>
              </a:rPr>
              <a:t>Conserva la versión pública anterior ante fallos.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882DC1-76EE-43DC-87BE-769BEFE5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467350"/>
            <a:ext cx="1952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03A3F"/>
                </a:solidFill>
              </a:defRPr>
            </a:pPr>
            <a:r>
              <a:rPr sz="900" b="1" i="0">
                <a:solidFill>
                  <a:srgbClr val="203A3F"/>
                </a:solidFill>
              </a:rPr>
              <a:t>Orlando  ☐ Validar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326771-4BA4-4DB4-B006-64C24E323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838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67747A"/>
                </a:solidFill>
              </a:defRPr>
            </a:pPr>
            <a:r>
              <a:rPr sz="975" b="1" i="0">
                <a:solidFill>
                  <a:srgbClr val="67747A"/>
                </a:solidFill>
              </a:rPr>
              <a:t>Posponer: APIs externas y planes de pago hasta medir uso.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0B9D32-FD80-43AF-B073-F1976E90A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77000"/>
            <a:ext cx="476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675" b="1" i="0">
                <a:solidFill>
                  <a:srgbClr val="738085"/>
                </a:solidFill>
              </a:defRPr>
            </a:pPr>
            <a:r>
              <a:rPr sz="675" b="1" i="0">
                <a:solidFill>
                  <a:srgbClr val="738085"/>
                </a:solidFill>
              </a:rPr>
              <a:t>BALO INMOBILIARIA · TALLER DE DECISIONES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EC85CCA-A6F6-4FE5-BE59-38080F3D8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77000"/>
            <a:ext cx="6096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750" b="1" i="0">
                <a:solidFill>
                  <a:srgbClr val="A66B2B"/>
                </a:solidFill>
              </a:defRPr>
            </a:pPr>
            <a:r>
              <a:rPr sz="750" b="1" i="0">
                <a:solidFill>
                  <a:srgbClr val="A66B2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308879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2026-08-30T19:55:37.5970000Z</dcterms:created>
  <dcterms:modified xsi:type="dcterms:W3CDTF">2026-08-30T19:55:37.5970000Z</dcterms:modified>
</coreProperties>
</file>