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49052a209b4480" /><Relationship Type="http://schemas.openxmlformats.org/officeDocument/2006/relationships/extended-properties" Target="/docProps/app.xml" Id="Rcd0584c88c7e4f24" /><Relationship Type="http://schemas.openxmlformats.org/officeDocument/2006/relationships/officeDocument" Target="/ppt/presentation.xml" Id="Rbdb269209e2145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e17139bec14b1d"/>
  </p:sldMasterIdLst>
  <p:notesMasterIdLst>
    <p:notesMasterId xmlns:r="http://schemas.openxmlformats.org/officeDocument/2006/relationships" r:id="R2ee1766988c646ff"/>
  </p:notesMasterIdLst>
  <p:sldIdLst>
    <p:sldId xmlns:r="http://schemas.openxmlformats.org/officeDocument/2006/relationships" id="256" r:id="R13bed85cc0aa4206"/>
    <p:sldId xmlns:r="http://schemas.openxmlformats.org/officeDocument/2006/relationships" id="257" r:id="R5d833b40b51d4265"/>
    <p:sldId xmlns:r="http://schemas.openxmlformats.org/officeDocument/2006/relationships" id="258" r:id="R5328327ded54472b"/>
    <p:sldId xmlns:r="http://schemas.openxmlformats.org/officeDocument/2006/relationships" id="259" r:id="R88e2921617074b18"/>
    <p:sldId xmlns:r="http://schemas.openxmlformats.org/officeDocument/2006/relationships" id="260" r:id="Ree598a49e5664d67"/>
    <p:sldId xmlns:r="http://schemas.openxmlformats.org/officeDocument/2006/relationships" id="261" r:id="R43cd2621c0af4aaf"/>
    <p:sldId xmlns:r="http://schemas.openxmlformats.org/officeDocument/2006/relationships" id="262" r:id="R0bb366d3a6374750"/>
    <p:sldId xmlns:r="http://schemas.openxmlformats.org/officeDocument/2006/relationships" id="263" r:id="R023bd189cbee46c9"/>
    <p:sldId xmlns:r="http://schemas.openxmlformats.org/officeDocument/2006/relationships" id="264" r:id="R8fa65f83a82b43d7"/>
    <p:sldId xmlns:r="http://schemas.openxmlformats.org/officeDocument/2006/relationships" id="265" r:id="R5dbe2a1ba75a4f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011953dc234877" /><Relationship Type="http://schemas.openxmlformats.org/officeDocument/2006/relationships/slideMaster" Target="/ppt/slideMasters/slideMaster1.xml" Id="Rfee17139bec14b1d" /><Relationship Type="http://schemas.openxmlformats.org/officeDocument/2006/relationships/notesMaster" Target="/ppt/notesMasters/notesMaster1.xml" Id="R2ee1766988c646ff" /><Relationship Type="http://schemas.openxmlformats.org/officeDocument/2006/relationships/presProps" Target="/ppt/presProps.xml" Id="R43dae11f60b04fc7" /><Relationship Type="http://schemas.openxmlformats.org/officeDocument/2006/relationships/tableStyles" Target="/ppt/tableStyles.xml" Id="Rdb51fe3dc22748dd" /><Relationship Type="http://schemas.openxmlformats.org/officeDocument/2006/relationships/slide" Target="/ppt/slides/slide1.xml" Id="R13bed85cc0aa4206" /><Relationship Type="http://schemas.openxmlformats.org/officeDocument/2006/relationships/slide" Target="/ppt/slides/slide2.xml" Id="R5d833b40b51d4265" /><Relationship Type="http://schemas.openxmlformats.org/officeDocument/2006/relationships/slide" Target="/ppt/slides/slide3.xml" Id="R5328327ded54472b" /><Relationship Type="http://schemas.openxmlformats.org/officeDocument/2006/relationships/slide" Target="/ppt/slides/slide4.xml" Id="R88e2921617074b18" /><Relationship Type="http://schemas.openxmlformats.org/officeDocument/2006/relationships/slide" Target="/ppt/slides/slide5.xml" Id="Ree598a49e5664d67" /><Relationship Type="http://schemas.openxmlformats.org/officeDocument/2006/relationships/slide" Target="/ppt/slides/slide6.xml" Id="R43cd2621c0af4aaf" /><Relationship Type="http://schemas.openxmlformats.org/officeDocument/2006/relationships/slide" Target="/ppt/slides/slide7.xml" Id="R0bb366d3a6374750" /><Relationship Type="http://schemas.openxmlformats.org/officeDocument/2006/relationships/slide" Target="/ppt/slides/slide8.xml" Id="R023bd189cbee46c9" /><Relationship Type="http://schemas.openxmlformats.org/officeDocument/2006/relationships/slide" Target="/ppt/slides/slide9.xml" Id="R8fa65f83a82b43d7" /><Relationship Type="http://schemas.openxmlformats.org/officeDocument/2006/relationships/slide" Target="/ppt/slides/slide10.xml" Id="R5dbe2a1ba75a4f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660dd192cc48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eec787d80e4fb6" /><Relationship Type="http://schemas.openxmlformats.org/officeDocument/2006/relationships/notesMaster" Target="/ppt/notesMasters/notesMaster1.xml" Id="R192d717de3e240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adbad9e14841f6" /><Relationship Type="http://schemas.openxmlformats.org/officeDocument/2006/relationships/notesMaster" Target="/ppt/notesMasters/notesMaster1.xml" Id="R984c6416b33a4f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ea038b20d64a3b" /><Relationship Type="http://schemas.openxmlformats.org/officeDocument/2006/relationships/notesMaster" Target="/ppt/notesMasters/notesMaster1.xml" Id="R315473c5407e42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ad5cd9571644c3" /><Relationship Type="http://schemas.openxmlformats.org/officeDocument/2006/relationships/notesMaster" Target="/ppt/notesMasters/notesMaster1.xml" Id="R6aaa44f2501941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b50e6874c14ce9" /><Relationship Type="http://schemas.openxmlformats.org/officeDocument/2006/relationships/notesMaster" Target="/ppt/notesMasters/notesMaster1.xml" Id="Rcb9dc1f56e9b47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d48413634141c2" /><Relationship Type="http://schemas.openxmlformats.org/officeDocument/2006/relationships/notesMaster" Target="/ppt/notesMasters/notesMaster1.xml" Id="R090536a6912f4e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f4d40b9c084a27" /><Relationship Type="http://schemas.openxmlformats.org/officeDocument/2006/relationships/notesMaster" Target="/ppt/notesMasters/notesMaster1.xml" Id="R36a77878ced442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d9430136104aa3" /><Relationship Type="http://schemas.openxmlformats.org/officeDocument/2006/relationships/notesMaster" Target="/ppt/notesMasters/notesMaster1.xml" Id="R91d0dba1113c48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03e0d1c1dc4380" /><Relationship Type="http://schemas.openxmlformats.org/officeDocument/2006/relationships/notesMaster" Target="/ppt/notesMasters/notesMaster1.xml" Id="R69cc1ed2fdbf4e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c127b1b34548c5" /><Relationship Type="http://schemas.openxmlformats.org/officeDocument/2006/relationships/notesMaster" Target="/ppt/notesMasters/notesMaster1.xml" Id="R5d982f94dce649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Promesa, alcance y decisiones: plan de piloto Balo aprobado por el usuario, 2026-08-29.</a:t>
            </a:r>
          </a:p>
          <a:p xmlns:a="http://schemas.openxmlformats.org/drawingml/2006/main">
            <a:r>
              <a:t>Imagen: public/og.png, activo existente del repositorio Balo.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Problemas y enfoque: plan de piloto Balo aprobado por el usuario, 2026-08-29. No se incluyen resultados de mercado ni casos inventados.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Promesa de marca: plan de piloto Balo aprobado por el usuario, 2026-08-29. Dirección visual derivada de los activos y la landing existentes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Alcance de web pública y portal interno: plan de piloto Balo aprobado por el usuario, 2026-08-29.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Flujo y comportamiento ante fallo: plan de piloto Balo aprobado por el usuario, 2026-08-29.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Roles y decisiones que requieren aprobación: plan de piloto Balo aprobado por el usuario, 2026-08-29.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Modelo de datos, validaciones y límites de conectores: plan de piloto Balo aprobado por el usuario, 2026-08-29.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Propiedad de cuentas y dependencias: plan de piloto Balo aprobado por el usuario, 2026-08-29.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Coste inicial: plan de piloto Balo aprobado por el usuario, 2026-08-29.</a:t>
            </a:r>
          </a:p>
          <a:p xmlns:a="http://schemas.openxmlformats.org/drawingml/2006/main">
            <a:r>
              <a:t>Cloudflare Workers pricing: https://www.cloudflare.com/en-in/plans/developer-platform-pricing/ (consultado 2026-08-29).</a:t>
            </a:r>
          </a:p>
          <a:p xmlns:a="http://schemas.openxmlformats.org/drawingml/2006/main">
            <a:r>
              <a:t>Cloudflare Access pricing: https://www.cloudflare.com/es-la/sase/products/access/ (consultado 2026-08-29).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Decisiones pendientes, recomendaciones, impacto y responsables: plan de piloto Balo aprobado por el usuario, 2026-08-29.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b8583182843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d622e6cb7548bb" /><Relationship Type="http://schemas.openxmlformats.org/officeDocument/2006/relationships/slideLayout" Target="/ppt/slideLayouts/slideLayout1.xml" Id="R0cf3cb0359ae48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f3cb0359ae48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e4d09007b4cc6" /><Relationship Type="http://schemas.openxmlformats.org/officeDocument/2006/relationships/image" Target="/ppt/media/image.png" Id="Rbf34e21a252242d1" /><Relationship Type="http://schemas.openxmlformats.org/officeDocument/2006/relationships/notesSlide" Target="/ppt/notesSlides/notesSlide1.xml" Id="Rd5f49a0b36f641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af6680a6c4829" /><Relationship Type="http://schemas.openxmlformats.org/officeDocument/2006/relationships/notesSlide" Target="/ppt/notesSlides/notesSlide2.xml" Id="Ra3e77c6661be4f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a3ea524ce4808" /><Relationship Type="http://schemas.openxmlformats.org/officeDocument/2006/relationships/notesSlide" Target="/ppt/notesSlides/notesSlide3.xml" Id="Rf78a17d0941c42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71669d0d442d4" /><Relationship Type="http://schemas.openxmlformats.org/officeDocument/2006/relationships/notesSlide" Target="/ppt/notesSlides/notesSlide4.xml" Id="R0ae4801482cd46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1b0ac284a4733" /><Relationship Type="http://schemas.openxmlformats.org/officeDocument/2006/relationships/notesSlide" Target="/ppt/notesSlides/notesSlide5.xml" Id="R02a81beb90b341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13a6a7bcd4473" /><Relationship Type="http://schemas.openxmlformats.org/officeDocument/2006/relationships/notesSlide" Target="/ppt/notesSlides/notesSlide6.xml" Id="R0a577deecea641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fd59eef1541b3" /><Relationship Type="http://schemas.openxmlformats.org/officeDocument/2006/relationships/notesSlide" Target="/ppt/notesSlides/notesSlide7.xml" Id="Rb3d87409562b42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d0a8ea36441c1" /><Relationship Type="http://schemas.openxmlformats.org/officeDocument/2006/relationships/notesSlide" Target="/ppt/notesSlides/notesSlide8.xml" Id="R5d71cf38da384e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dcd80335141e0" /><Relationship Type="http://schemas.openxmlformats.org/officeDocument/2006/relationships/notesSlide" Target="/ppt/notesSlides/notesSlide9.xml" Id="R6582d9419dcf49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679a9898b4adb" /><Relationship Type="http://schemas.openxmlformats.org/officeDocument/2006/relationships/notesSlide" Target="/ppt/notesSlides/notesSlide10.xml" Id="Rd601f01d86f448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3A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4e21a252242d1"/>
          <a:stretch xmlns:a="http://schemas.openxmlformats.org/drawingml/2006/main"/>
        </p:blipFill>
        <p:spPr>
          <a:xfrm xmlns:a="http://schemas.openxmlformats.org/drawingml/2006/main">
            <a:off x="7000875" y="0"/>
            <a:ext cx="5191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C30BF-E2C1-4A47-8ACC-A08161BD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0"/>
            <a:ext cx="5191125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03D83-CC2B-49C8-9F36-DC7B63F0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BALO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46EE6-9E08-43C1-B757-CCBE7705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ABF7B"/>
                </a:solidFill>
              </a:defRPr>
            </a:pPr>
            <a:r>
              <a:rPr sz="825" b="1" i="0">
                <a:solidFill>
                  <a:srgbClr val="DABF7B"/>
                </a:solidFill>
              </a:rPr>
              <a:t>INMOBILIARIA · SESIÓN DE VALIDACIÓN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531DD-496F-4905-9DCF-904D172E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4F1EA"/>
                </a:solidFill>
              </a:defRPr>
            </a:pPr>
            <a:r>
              <a:rPr sz="4350" b="1" i="0">
                <a:solidFill>
                  <a:srgbClr val="F4F1EA"/>
                </a:solidFill>
              </a:rPr>
              <a:t>Decidir antes de construir.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8DCAD-F99B-4194-AB9E-85AC9637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CE6E4"/>
                </a:solidFill>
              </a:defRPr>
            </a:pPr>
            <a:r>
              <a:rPr sz="1500" b="0" i="0">
                <a:solidFill>
                  <a:srgbClr val="DCE6E4"/>
                </a:solidFill>
              </a:rPr>
              <a:t>Piloto de captación y operación para Orlando</a:t>
            </a:r>
          </a:p>
          <a:p xmlns:a="http://schemas.openxmlformats.org/drawingml/2006/main">
            <a:pPr algn="l">
              <a:defRPr sz="1500" b="0" i="0">
                <a:solidFill>
                  <a:srgbClr val="DCE6E4"/>
                </a:solidFill>
              </a:defRPr>
            </a:pPr>
            <a:r>
              <a:rPr sz="1500" b="0" i="0">
                <a:solidFill>
                  <a:srgbClr val="DCE6E4"/>
                </a:solidFill>
              </a:rPr>
              <a:t>29 de agosto de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61DEA-3EA6-41EA-BF48-82E9DFD7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645A0-55BF-4D9A-BE0A-FF25B09B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1">
                <a:solidFill>
                  <a:srgbClr val="FFFFFF"/>
                </a:solidFill>
              </a:defRPr>
            </a:pPr>
            <a:r>
              <a:rPr sz="1950" b="0" i="1">
                <a:solidFill>
                  <a:srgbClr val="FFFFFF"/>
                </a:solidFill>
              </a:rPr>
              <a:t>Tu propiedad, bien representada.</a:t>
            </a:r>
          </a:p>
          <a:p xmlns:a="http://schemas.openxmlformats.org/drawingml/2006/main">
            <a:pPr algn="l">
              <a:defRPr sz="1950" b="0" i="1">
                <a:solidFill>
                  <a:srgbClr val="FFFFFF"/>
                </a:solidFill>
              </a:defRPr>
            </a:pPr>
            <a:r>
              <a:rPr sz="1950" b="0" i="1">
                <a:solidFill>
                  <a:srgbClr val="FFFFFF"/>
                </a:solidFill>
              </a:rPr>
              <a:t>Tu decisión, siempre clara.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F9B5D-0E21-450A-BCFA-573C22E5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C6D2D0"/>
                </a:solidFill>
              </a:defRPr>
            </a:pPr>
            <a:r>
              <a:rPr sz="900" b="0" i="0">
                <a:solidFill>
                  <a:srgbClr val="C6D2D0"/>
                </a:solidFill>
              </a:rPr>
              <a:t>OBJETIVO: validar la dirección de producto, el modelo de atención y las dependencias que deben pertenecer a Orlando.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97170-FEF1-46E1-A9DF-CEB02A2A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B7C5C3"/>
                </a:solidFill>
              </a:defRPr>
            </a:pPr>
            <a:r>
              <a:rPr sz="675" b="1" i="0">
                <a:solidFill>
                  <a:srgbClr val="B7C5C3"/>
                </a:solidFill>
              </a:rPr>
              <a:t>BALO INMOBILIARIA · TALLER DE DECISIONES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E2916-10AE-4468-96F9-EA9F4B8E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DABF7B"/>
                </a:solidFill>
              </a:defRPr>
            </a:pPr>
            <a:r>
              <a:rPr sz="750" b="1" i="0">
                <a:solidFill>
                  <a:srgbClr val="DABF7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90931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7A790-2086-4E25-8F1F-94BCF630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01 · EL PROBLEMA QUE RESOLVEMOS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29D10-9806-4ED5-957A-530CF1D7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F2933"/>
                </a:solidFill>
              </a:defRPr>
            </a:pPr>
            <a:r>
              <a:rPr sz="3375" b="1" i="0">
                <a:solidFill>
                  <a:srgbClr val="1F2933"/>
                </a:solidFill>
              </a:rPr>
              <a:t>El propietario no necesita más ruido. Necesita contexto para decidir.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14C05-83BD-4958-A8C6-5938DCE4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2FFCF-5E3B-4667-A004-DCB3989E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7747A"/>
                </a:solidFill>
              </a:defRPr>
            </a:pPr>
            <a:r>
              <a:rPr sz="1575" b="0" i="0">
                <a:solidFill>
                  <a:srgbClr val="67747A"/>
                </a:solidFill>
              </a:rPr>
              <a:t>La oportunidad no es prometer rapidez: es hacer visible lo que ocurre entre el primer contacto y la decisión.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867AA-27C0-45FF-BB27-E36D7714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314325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CEEE8-408B-4D5E-B01B-A1AE73D4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66B2B"/>
                </a:solidFill>
              </a:defRPr>
            </a:pPr>
            <a:r>
              <a:rPr sz="825" b="1" i="0">
                <a:solidFill>
                  <a:srgbClr val="A66B2B"/>
                </a:solidFill>
              </a:rPr>
              <a:t>RELACIÓN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8BB64-3B63-4FBD-B3C7-945D25B3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Conversación</a:t>
            </a:r>
          </a:p>
          <a:p xmlns:a="http://schemas.openxmlformats.org/drawingml/2006/main">
            <a:pPr algn="l"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con respuesta directa.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56C7E-194F-47D9-8CE9-E08479B5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747A"/>
                </a:solidFill>
              </a:defRPr>
            </a:pPr>
            <a:r>
              <a:rPr sz="900" b="0" i="0">
                <a:solidFill>
                  <a:srgbClr val="67747A"/>
                </a:solidFill>
              </a:rPr>
              <a:t>Escucha directa, criterio y un punto de contacto claro.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36A41-0D8C-4171-BE4B-B899BF1C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76625"/>
            <a:ext cx="314325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CF149-A63A-4A27-9516-65B3FEFA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957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66B2B"/>
                </a:solidFill>
              </a:defRPr>
            </a:pPr>
            <a:r>
              <a:rPr sz="825" b="1" i="0">
                <a:solidFill>
                  <a:srgbClr val="A66B2B"/>
                </a:solidFill>
              </a:rPr>
              <a:t>OPERACIÓN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846D5-757D-4290-8E2A-609DBBBB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57650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Señales hoy</a:t>
            </a:r>
          </a:p>
          <a:p xmlns:a="http://schemas.openxmlformats.org/drawingml/2006/main">
            <a:pPr algn="l"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dispersas.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651E8-C442-44BF-A60A-BD7F51C9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762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747A"/>
                </a:solidFill>
              </a:defRPr>
            </a:pPr>
            <a:r>
              <a:rPr sz="900" b="0" i="0">
                <a:solidFill>
                  <a:srgbClr val="67747A"/>
                </a:solidFill>
              </a:rPr>
              <a:t>Un hilo común desde el post hasta la oferta.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90E5E-011E-4508-AA35-107BD464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76625"/>
            <a:ext cx="314325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624328-37B4-4F63-80C3-7AF10F0A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66B2B"/>
                </a:solidFill>
              </a:defRPr>
            </a:pPr>
            <a:r>
              <a:rPr sz="825" b="1" i="0">
                <a:solidFill>
                  <a:srgbClr val="A66B2B"/>
                </a:solidFill>
              </a:rPr>
              <a:t>DECISIÓN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3B02A-012C-408C-85A9-6F8AEB70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57650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Cambios sensibles</a:t>
            </a:r>
          </a:p>
          <a:p xmlns:a="http://schemas.openxmlformats.org/drawingml/2006/main">
            <a:pPr algn="l"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aún sin aprobar.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783E9-E818-49C4-B66A-AA9C4EDF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62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747A"/>
                </a:solidFill>
              </a:defRPr>
            </a:pPr>
            <a:r>
              <a:rPr sz="900" b="0" i="0">
                <a:solidFill>
                  <a:srgbClr val="67747A"/>
                </a:solidFill>
              </a:rPr>
              <a:t>Orlando conserva el control sobre precio, publicación y cierre.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000F7-3614-47DE-BF27-2CF3B1B6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38085"/>
                </a:solidFill>
              </a:defRPr>
            </a:pPr>
            <a:r>
              <a:rPr sz="675" b="1" i="0">
                <a:solidFill>
                  <a:srgbClr val="738085"/>
                </a:solidFill>
              </a:rPr>
              <a:t>BALO INMOBILIARIA · TALLER DE DECISIONES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8C295-1B3C-4D2A-8092-80379A3E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977321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EEE87-7046-4FF0-82B7-606D6539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02 · POSICIONAMIENTO BALO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41FAF-64EB-4E91-BB1C-CE0FAC82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F2933"/>
                </a:solidFill>
              </a:defRPr>
            </a:pPr>
            <a:r>
              <a:rPr sz="3375" b="1" i="0">
                <a:solidFill>
                  <a:srgbClr val="1F2933"/>
                </a:solidFill>
              </a:rPr>
              <a:t>La promesa es una guía de comportamiento, no solo una frase.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83C1C-0369-461D-9824-81414DD4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49087-71D8-4490-A938-16B84F81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685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1">
                <a:solidFill>
                  <a:srgbClr val="203A3F"/>
                </a:solidFill>
              </a:defRPr>
            </a:pPr>
            <a:r>
              <a:rPr sz="3150" b="1" i="1">
                <a:solidFill>
                  <a:srgbClr val="203A3F"/>
                </a:solidFill>
              </a:rPr>
              <a:t>“Tu propiedad, bien representada.</a:t>
            </a:r>
          </a:p>
          <a:p xmlns:a="http://schemas.openxmlformats.org/drawingml/2006/main">
            <a:pPr algn="l">
              <a:defRPr sz="3150" b="1" i="1">
                <a:solidFill>
                  <a:srgbClr val="203A3F"/>
                </a:solidFill>
              </a:defRPr>
            </a:pPr>
            <a:r>
              <a:rPr sz="3150" b="1" i="1">
                <a:solidFill>
                  <a:srgbClr val="203A3F"/>
                </a:solidFill>
              </a:rPr>
              <a:t>Tu decisión, siempre clara.”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8E244-B3E2-4077-A739-7FCEB9D2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19325"/>
            <a:ext cx="2952750" cy="2505075"/>
          </a:xfrm>
          <a:prstGeom xmlns:a="http://schemas.openxmlformats.org/drawingml/2006/main" prst="roundRect">
            <a:avLst>
              <a:gd name="adj" fmla="val 1901"/>
            </a:avLst>
          </a:prstGeom>
          <a:solidFill xmlns:a="http://schemas.openxmlformats.org/drawingml/2006/main">
            <a:srgbClr val="203A3F"/>
          </a:solidFill>
          <a:ln xmlns:a="http://schemas.openxmlformats.org/drawingml/2006/main" w="9525">
            <a:solidFill>
              <a:srgbClr val="203A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CCC36-E561-4FBB-B344-1AFDC381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36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ABF7B"/>
                </a:solidFill>
              </a:defRPr>
            </a:pPr>
            <a:r>
              <a:rPr sz="825" b="1" i="0">
                <a:solidFill>
                  <a:srgbClr val="DABF7B"/>
                </a:solidFill>
              </a:rPr>
              <a:t>LO QUE SE 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4A342-5152-43F5-8C5A-00FEA168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4322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Cercanía</a:t>
            </a:r>
          </a:p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Presentación cuidada</a:t>
            </a:r>
          </a:p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Seguimiento visible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7328B-5E16-4807-BF59-430B0961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66B2B"/>
                </a:solidFill>
              </a:defRPr>
            </a:pPr>
            <a:r>
              <a:rPr sz="825" b="1" i="0">
                <a:solidFill>
                  <a:srgbClr val="A66B2B"/>
                </a:solidFill>
              </a:rPr>
              <a:t>LO QUE LO SOSTIENE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DAEAC-2471-42AE-942E-FF66A7B5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Método claro · registro de decisiones · aprobación interna · conversación humana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7FC64-5CAF-402D-A1A5-AEC6B123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38085"/>
                </a:solidFill>
              </a:defRPr>
            </a:pPr>
            <a:r>
              <a:rPr sz="675" b="1" i="0">
                <a:solidFill>
                  <a:srgbClr val="738085"/>
                </a:solidFill>
              </a:rPr>
              <a:t>BALO INMOBILIARIA · TALLER DE DECISIONES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1A265-F5B8-4191-9527-B1F5A70A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3997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3FAD-F635-4F71-AFA3-8A65BE3A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03 · ALCANCE DEL PILOTO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F976F-52F5-440A-8BBB-3E530DBF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F2933"/>
                </a:solidFill>
              </a:defRPr>
            </a:pPr>
            <a:r>
              <a:rPr sz="3375" b="1" i="0">
                <a:solidFill>
                  <a:srgbClr val="1F2933"/>
                </a:solidFill>
              </a:rPr>
              <a:t>Dos superficies; una sola conversación bien cuidada.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14073-3114-4472-B784-D32397A7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CA333-3984-4391-9200-ABFBC281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4800600" cy="276225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B01BE-72A0-4512-8B4C-72C6F900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38400"/>
            <a:ext cx="5553075" cy="276225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203A3F"/>
          </a:solidFill>
          <a:ln xmlns:a="http://schemas.openxmlformats.org/drawingml/2006/main" w="9525">
            <a:solidFill>
              <a:srgbClr val="203A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77C5E-1FAC-439B-8F18-67AA3548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WEB PÚBLICA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04A71-25D2-43C1-AA61-FDFFAF82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3790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F2933"/>
                </a:solidFill>
              </a:defRPr>
            </a:pPr>
            <a:r>
              <a:rPr sz="2025" b="1" i="0">
                <a:solidFill>
                  <a:srgbClr val="1F2933"/>
                </a:solidFill>
              </a:rPr>
              <a:t>Iniciar una conversación</a:t>
            </a:r>
          </a:p>
          <a:p xmlns:a="http://schemas.openxmlformats.org/drawingml/2006/main">
            <a:pPr algn="l">
              <a:defRPr sz="2025" b="1" i="0">
                <a:solidFill>
                  <a:srgbClr val="1F2933"/>
                </a:solidFill>
              </a:defRPr>
            </a:pPr>
            <a:r>
              <a:rPr sz="2025" b="1" i="0">
                <a:solidFill>
                  <a:srgbClr val="1F2933"/>
                </a:solidFill>
              </a:rPr>
              <a:t>con consentimiento.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47D00-9F0F-4C12-A78B-E8BE4867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47A"/>
                </a:solidFill>
              </a:defRPr>
            </a:pPr>
            <a:r>
              <a:rPr sz="1050" b="0" i="0">
                <a:solidFill>
                  <a:srgbClr val="67747A"/>
                </a:solidFill>
              </a:rPr>
              <a:t>• Propietarios y compradores</a:t>
            </a:r>
          </a:p>
          <a:p xmlns:a="http://schemas.openxmlformats.org/drawingml/2006/main">
            <a:pPr algn="l">
              <a:defRPr sz="1050" b="0" i="0">
                <a:solidFill>
                  <a:srgbClr val="67747A"/>
                </a:solidFill>
              </a:defRPr>
            </a:pPr>
            <a:r>
              <a:rPr sz="1050" b="0" i="0">
                <a:solidFill>
                  <a:srgbClr val="67747A"/>
                </a:solidFill>
              </a:rPr>
              <a:t>• Formulario + WhatsApp de respaldo</a:t>
            </a:r>
          </a:p>
          <a:p xmlns:a="http://schemas.openxmlformats.org/drawingml/2006/main">
            <a:pPr algn="l">
              <a:defRPr sz="1050" b="0" i="0">
                <a:solidFill>
                  <a:srgbClr val="67747A"/>
                </a:solidFill>
              </a:defRPr>
            </a:pPr>
            <a:r>
              <a:rPr sz="1050" b="0" i="0">
                <a:solidFill>
                  <a:srgbClr val="67747A"/>
                </a:solidFill>
              </a:rPr>
              <a:t>• Sin precios públicos</a:t>
            </a:r>
          </a:p>
          <a:p xmlns:a="http://schemas.openxmlformats.org/drawingml/2006/main">
            <a:pPr algn="l">
              <a:defRPr sz="1050" b="0" i="0">
                <a:solidFill>
                  <a:srgbClr val="67747A"/>
                </a:solidFill>
              </a:defRPr>
            </a:pPr>
            <a:r>
              <a:rPr sz="1050" b="0" i="0">
                <a:solidFill>
                  <a:srgbClr val="67747A"/>
                </a:solidFill>
              </a:rPr>
              <a:t>• Método y pruebas autorizadas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D59B8-8C26-44F4-ACCD-E4E2162F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ABF7B"/>
                </a:solidFill>
              </a:defRPr>
            </a:pPr>
            <a:r>
              <a:rPr sz="900" b="1" i="0">
                <a:solidFill>
                  <a:srgbClr val="DABF7B"/>
                </a:solidFill>
              </a:rPr>
              <a:t>PORTAL INTERNO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6F528-BDCE-49BF-993A-10F5B119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81350"/>
            <a:ext cx="4238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Ordenar la operación</a:t>
            </a:r>
          </a:p>
          <a:p xmlns:a="http://schemas.openxmlformats.org/drawingml/2006/main">
            <a:pPr algn="l"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y hacer visibles las decisiones.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B5B3A-F807-406C-B398-414A218B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00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DE7E5"/>
                </a:solidFill>
              </a:defRPr>
            </a:pPr>
            <a:r>
              <a:rPr sz="975" b="0" i="0">
                <a:solidFill>
                  <a:srgbClr val="DDE7E5"/>
                </a:solidFill>
              </a:rPr>
              <a:t>• Orlando: administración y aprobaciones</a:t>
            </a:r>
          </a:p>
          <a:p xmlns:a="http://schemas.openxmlformats.org/drawingml/2006/main">
            <a:pPr algn="l">
              <a:defRPr sz="975" b="0" i="0">
                <a:solidFill>
                  <a:srgbClr val="DDE7E5"/>
                </a:solidFill>
              </a:defRPr>
            </a:pPr>
            <a:r>
              <a:rPr sz="975" b="0" i="0">
                <a:solidFill>
                  <a:srgbClr val="DDE7E5"/>
                </a:solidFill>
              </a:rPr>
              <a:t>• Gestores: solo casos asignados</a:t>
            </a:r>
          </a:p>
          <a:p xmlns:a="http://schemas.openxmlformats.org/drawingml/2006/main">
            <a:pPr algn="l">
              <a:defRPr sz="975" b="0" i="0">
                <a:solidFill>
                  <a:srgbClr val="DDE7E5"/>
                </a:solidFill>
              </a:defRPr>
            </a:pPr>
            <a:r>
              <a:rPr sz="975" b="0" i="0">
                <a:solidFill>
                  <a:srgbClr val="DDE7E5"/>
                </a:solidFill>
              </a:rPr>
              <a:t>• Bitácora: post → lead → visita → oferta</a:t>
            </a:r>
          </a:p>
          <a:p xmlns:a="http://schemas.openxmlformats.org/drawingml/2006/main">
            <a:pPr algn="l">
              <a:defRPr sz="975" b="0" i="0">
                <a:solidFill>
                  <a:srgbClr val="DDE7E5"/>
                </a:solidFill>
              </a:defRPr>
            </a:pPr>
            <a:r>
              <a:rPr sz="975" b="0" i="0">
                <a:solidFill>
                  <a:srgbClr val="DDE7E5"/>
                </a:solidFill>
              </a:rPr>
              <a:t>• Sin prometer integraciones no autorizadas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32AB0-419B-46B3-B02F-61F98C90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38085"/>
                </a:solidFill>
              </a:defRPr>
            </a:pPr>
            <a:r>
              <a:rPr sz="675" b="1" i="0">
                <a:solidFill>
                  <a:srgbClr val="738085"/>
                </a:solidFill>
              </a:rPr>
              <a:t>BALO INMOBILIARIA · TALLER DE DECISIONES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B52AA-5F4A-466C-9420-6949C8CF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793727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2B36B9-C5E0-41EC-93FF-A49E3CEB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04 · FLUJO TRAZABLE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72E81-2F58-48E2-93B5-57A5B04C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F2933"/>
                </a:solidFill>
              </a:defRPr>
            </a:pPr>
            <a:r>
              <a:rPr sz="3375" b="1" i="0">
                <a:solidFill>
                  <a:srgbClr val="1F2933"/>
                </a:solidFill>
              </a:rPr>
              <a:t>Cada señal debe conservar su origen hasta la oferta.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D0BAC-0E9B-4771-9CB5-E3BCCA8C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A6F80-3015-4E48-A68A-45FF8202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15621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B66A3C"/>
          </a:solidFill>
          <a:ln xmlns:a="http://schemas.openxmlformats.org/drawingml/2006/main" w="9525">
            <a:solidFill>
              <a:srgbClr val="B66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78557-6129-4D90-B4B3-6FDE8726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432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CD35B-7A56-45EF-B9E9-1377A272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5F1E8"/>
                </a:solidFill>
              </a:defRPr>
            </a:pPr>
            <a:r>
              <a:rPr sz="825" b="0" i="0">
                <a:solidFill>
                  <a:srgbClr val="F5F1E8"/>
                </a:solidFill>
              </a:rPr>
              <a:t>UTM / QR / post_id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31049-458A-4DDC-8E0A-4354C490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695700"/>
            <a:ext cx="561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41DD4-BAA9-49F4-A7B7-B779BB39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14675"/>
            <a:ext cx="15621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A66B2B"/>
          </a:solidFill>
          <a:ln xmlns:a="http://schemas.openxmlformats.org/drawingml/2006/main" w="9525">
            <a:solidFill>
              <a:srgbClr val="A66B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7544F-3C30-4901-A350-E2A1D15C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432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LEAD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76DC3-AE03-4D31-AAD0-642DC1CE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719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5F1E8"/>
                </a:solidFill>
              </a:defRPr>
            </a:pPr>
            <a:r>
              <a:rPr sz="825" b="0" i="0">
                <a:solidFill>
                  <a:srgbClr val="F5F1E8"/>
                </a:solidFill>
              </a:rPr>
              <a:t>consentimiento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E9A16-660E-4FEC-80CF-A8BD79B1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695700"/>
            <a:ext cx="561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25F08-865C-4BE5-89E6-4D7C41FD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14675"/>
            <a:ext cx="15621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D6A57"/>
          </a:solidFill>
          <a:ln xmlns:a="http://schemas.openxmlformats.org/drawingml/2006/main" w="9525">
            <a:solidFill>
              <a:srgbClr val="2D6A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83B65-A709-489B-9B45-17CEBF09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432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VISITA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23211-5746-40D6-AAA3-66A0512D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719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5F1E8"/>
                </a:solidFill>
              </a:defRPr>
            </a:pPr>
            <a:r>
              <a:rPr sz="825" b="0" i="0">
                <a:solidFill>
                  <a:srgbClr val="F5F1E8"/>
                </a:solidFill>
              </a:rPr>
              <a:t>actividad + feedback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211D5-577B-41DA-9936-D57C287E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695700"/>
            <a:ext cx="561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7B3AE-F3DD-4527-B9E7-0428DFF1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14675"/>
            <a:ext cx="15621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03A3F"/>
          </a:solidFill>
          <a:ln xmlns:a="http://schemas.openxmlformats.org/drawingml/2006/main" w="9525">
            <a:solidFill>
              <a:srgbClr val="203A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3575D-10A7-417B-BDA0-B3EB2724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432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OFERTA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9AA5E-8DA1-4AE1-BA24-6A2B9DD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719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5F1E8"/>
                </a:solidFill>
              </a:defRPr>
            </a:pPr>
            <a:r>
              <a:rPr sz="825" b="0" i="0">
                <a:solidFill>
                  <a:srgbClr val="F5F1E8"/>
                </a:solidFill>
              </a:rPr>
              <a:t>decisión pendiente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B21E8-9A7E-49DB-B86A-5C8EA5E1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695700"/>
            <a:ext cx="561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A40B6-11BF-4CA6-A3D1-50957979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14675"/>
            <a:ext cx="15621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4B466F-146E-48A4-BEC0-FAE92D4A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432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CIERRE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C23C7-DE6F-4B37-8B48-5B49B91D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719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5F1E8"/>
                </a:solidFill>
              </a:defRPr>
            </a:pPr>
            <a:r>
              <a:rPr sz="825" b="0" i="0">
                <a:solidFill>
                  <a:srgbClr val="F5F1E8"/>
                </a:solidFill>
              </a:rPr>
              <a:t>aprobación Orlando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D174E-6087-41EC-B4E6-69509011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7747A"/>
                </a:solidFill>
              </a:defRPr>
            </a:pPr>
            <a:r>
              <a:rPr sz="1350" b="0" i="0">
                <a:solidFill>
                  <a:srgbClr val="67747A"/>
                </a:solidFill>
              </a:rPr>
              <a:t>Si un conector o Google Sheets falla, la operación no se confirma como completada: se abre un seguimiento manual con el identificador del evento.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E44ACF-0D37-4CEE-A6DC-44401CC0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38085"/>
                </a:solidFill>
              </a:defRPr>
            </a:pPr>
            <a:r>
              <a:rPr sz="675" b="1" i="0">
                <a:solidFill>
                  <a:srgbClr val="738085"/>
                </a:solidFill>
              </a:rPr>
              <a:t>BALO INMOBILIARIA · TALLER DE DECISIONES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D2472-AD6B-4BB3-BBBC-78194FBB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62437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9375F-0252-4FE3-AB57-592ACC48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05 · ROLES Y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088D5-C569-4E7F-9D59-4E87F496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F2933"/>
                </a:solidFill>
              </a:defRPr>
            </a:pPr>
            <a:r>
              <a:rPr sz="3375" b="1" i="0">
                <a:solidFill>
                  <a:srgbClr val="1F2933"/>
                </a:solidFill>
              </a:rPr>
              <a:t>El equipo puede avanzar; Orlando conserva las decisiones sensibles.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80BD8-ABC9-4450-9B3A-9F413D2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CC3CE-045B-48C2-B2FD-7BF819B1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572000" cy="2667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03A3F"/>
          </a:solidFill>
          <a:ln xmlns:a="http://schemas.openxmlformats.org/drawingml/2006/main" w="9525">
            <a:solidFill>
              <a:srgbClr val="203A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6E0BE-79BA-4A37-8147-403CA349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384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ABF7B"/>
                </a:solidFill>
              </a:defRPr>
            </a:pPr>
            <a:r>
              <a:rPr sz="900" b="1" i="0">
                <a:solidFill>
                  <a:srgbClr val="DABF7B"/>
                </a:solidFill>
              </a:rPr>
              <a:t>ORLANDO · 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5BE1F-6A8E-47BD-B247-443F90AB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Supervisa el conjunto</a:t>
            </a:r>
          </a:p>
          <a:p xmlns:a="http://schemas.openxmlformats.org/drawingml/2006/main"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y aprueba los hitos.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48997-71C6-4FEC-ABF6-EB19C1D0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338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CE6E4"/>
                </a:solidFill>
              </a:defRPr>
            </a:pPr>
            <a:r>
              <a:rPr sz="1200" b="0" i="0">
                <a:solidFill>
                  <a:srgbClr val="DCE6E4"/>
                </a:solidFill>
              </a:rPr>
              <a:t>Aprueba: precio, publicación, comisión, descuento y cierre.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CFD6F-C499-42E5-B21C-CF2B769F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33625"/>
            <a:ext cx="4619625" cy="2667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2B6A9-B014-496A-B605-6AA856F5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384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GESTORES · 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F0829-11D7-4D21-A8BA-24FB6514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38475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F2933"/>
                </a:solidFill>
              </a:defRPr>
            </a:pPr>
            <a:r>
              <a:rPr sz="2250" b="1" i="0">
                <a:solidFill>
                  <a:srgbClr val="1F2933"/>
                </a:solidFill>
              </a:rPr>
              <a:t>Trabajan sobre</a:t>
            </a:r>
          </a:p>
          <a:p xmlns:a="http://schemas.openxmlformats.org/drawingml/2006/main">
            <a:pPr algn="l">
              <a:defRPr sz="2250" b="1" i="0">
                <a:solidFill>
                  <a:srgbClr val="1F2933"/>
                </a:solidFill>
              </a:defRPr>
            </a:pPr>
            <a:r>
              <a:rPr sz="2250" b="1" i="0">
                <a:solidFill>
                  <a:srgbClr val="1F2933"/>
                </a:solidFill>
              </a:rPr>
              <a:t>lo que tienen asignado.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F1695-A0B7-42D6-8019-31AD8C20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3382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7747A"/>
                </a:solidFill>
              </a:defRPr>
            </a:pPr>
            <a:r>
              <a:rPr sz="1200" b="0" i="0">
                <a:solidFill>
                  <a:srgbClr val="67747A"/>
                </a:solidFill>
              </a:rPr>
              <a:t>Captar, publicar, visitar y cerrar describen actividades; no son permisos de acceso.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7A716-B7A1-4A48-9C7A-F2C514CF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03A3F"/>
                </a:solidFill>
              </a:defRPr>
            </a:pPr>
            <a:r>
              <a:rPr sz="1050" b="1" i="0">
                <a:solidFill>
                  <a:srgbClr val="203A3F"/>
                </a:solidFill>
              </a:rPr>
              <a:t>RECOMENDACIÓN: iniciar con estos dos perfiles. Añadir más permisos solo cuando una necesidad operativa real lo demuestre.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7A784-6B53-4EE2-B47D-68B81E74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38085"/>
                </a:solidFill>
              </a:defRPr>
            </a:pPr>
            <a:r>
              <a:rPr sz="675" b="1" i="0">
                <a:solidFill>
                  <a:srgbClr val="738085"/>
                </a:solidFill>
              </a:rPr>
              <a:t>BALO INMOBILIARIA · TALLER DE DECISIONES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CC57F-C707-4B09-B463-78A2E39E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8868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18B8C9-B99A-4B72-B159-E6D0C143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06 · DATOS Y CANALES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E4F72-C806-44F2-8B2A-5064351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F2933"/>
                </a:solidFill>
              </a:defRPr>
            </a:pPr>
            <a:r>
              <a:rPr sz="3375" b="1" i="0">
                <a:solidFill>
                  <a:srgbClr val="1F2933"/>
                </a:solidFill>
              </a:rPr>
              <a:t>Datos útiles, consentimiento explícito y conectores siempre reversibles.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AA2DB-BCAE-423B-B22E-6D781D68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56773-5BE2-4899-B95F-08BEFB40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8A24A"/>
                </a:solidFill>
              </a:defRPr>
            </a:pPr>
            <a:r>
              <a:rPr sz="2100" b="1" i="0">
                <a:solidFill>
                  <a:srgbClr val="C8A24A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4461A-6EC0-44C3-9FD9-A7C4C844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C16E8-4E61-4478-9AF2-69F6472A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Formulario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5A446-D0DC-4001-9458-8A1203EA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47A"/>
                </a:solidFill>
              </a:defRPr>
            </a:pPr>
            <a:r>
              <a:rPr sz="1050" b="0" i="0">
                <a:solidFill>
                  <a:srgbClr val="67747A"/>
                </a:solidFill>
              </a:rPr>
              <a:t>Nombre, teléfono, necesidad, zona y consentimiento.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CC492-3E6C-4924-A43F-5A0FF1E4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28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8A24A"/>
                </a:solidFill>
              </a:defRPr>
            </a:pPr>
            <a:r>
              <a:rPr sz="2100" b="1" i="0">
                <a:solidFill>
                  <a:srgbClr val="C8A24A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CE893-4F9C-4265-872E-EC29EA60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8610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98BA8-06CF-42BF-8FE6-E6BF2899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Worker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3A3DA-7129-4D8E-8B5F-1968AD71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62375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47A"/>
                </a:solidFill>
              </a:defRPr>
            </a:pPr>
            <a:r>
              <a:rPr sz="1050" b="0" i="0">
                <a:solidFill>
                  <a:srgbClr val="67747A"/>
                </a:solidFill>
              </a:rPr>
              <a:t>Valida formato, antispam, origen, firma e idempotencia.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78BA1-120D-4CF5-9F0B-DFEEDA6C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28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8A24A"/>
                </a:solidFill>
              </a:defRPr>
            </a:pPr>
            <a:r>
              <a:rPr sz="2100" b="1" i="0">
                <a:solidFill>
                  <a:srgbClr val="C8A24A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BBE99-6AA0-48EE-B072-FCD7A168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8610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8ECF4-61AF-4564-B6A9-8A68D469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Google Sheets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40261-2C39-4D24-A52A-FDA641A9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62375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47A"/>
                </a:solidFill>
              </a:defRPr>
            </a:pPr>
            <a:r>
              <a:rPr sz="1050" b="0" i="0">
                <a:solidFill>
                  <a:srgbClr val="67747A"/>
                </a:solidFill>
              </a:rPr>
              <a:t>Registro inicial de Orlando: leads, actividades, decisiones y auditoría.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71BF6-6DF5-4177-BFD2-22317BE4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28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8A24A"/>
                </a:solidFill>
              </a:defRPr>
            </a:pPr>
            <a:r>
              <a:rPr sz="2100" b="1" i="0">
                <a:solidFill>
                  <a:srgbClr val="C8A24A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B6003-DAF6-4D97-BA56-945499AE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8610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B874E-FB0B-456B-9D5D-CADFD635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337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Canales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23B53-D065-420F-B7CD-D3CBB5B0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7747A"/>
                </a:solidFill>
              </a:defRPr>
            </a:pPr>
            <a:r>
              <a:rPr sz="1050" b="0" i="0">
                <a:solidFill>
                  <a:srgbClr val="67747A"/>
                </a:solidFill>
              </a:rPr>
              <a:t>API solo con credenciales oficiales; mientras tanto, registro manual y WhatsApp.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22D80-86B5-4FCA-A612-BE84A033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106680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1ED"/>
          </a:solidFill>
          <a:ln xmlns:a="http://schemas.openxmlformats.org/drawingml/2006/main" w="9525">
            <a:solidFill>
              <a:srgbClr val="D7E0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EF9BE-870F-4183-AA5E-BC910B0D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8162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D6A57"/>
                </a:solidFill>
              </a:defRPr>
            </a:pPr>
            <a:r>
              <a:rPr sz="1050" b="1" i="0">
                <a:solidFill>
                  <a:srgbClr val="2D6A57"/>
                </a:solidFill>
              </a:rPr>
              <a:t>No se confirma una publicación, un lead ni un evento externo si el sistema no puede registrarlo. El respaldo manual conserva trazabilidad.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E7B246-C8AA-4CFE-B2EA-86BE7DB0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38085"/>
                </a:solidFill>
              </a:defRPr>
            </a:pPr>
            <a:r>
              <a:rPr sz="675" b="1" i="0">
                <a:solidFill>
                  <a:srgbClr val="738085"/>
                </a:solidFill>
              </a:rPr>
              <a:t>BALO INMOBILIARIA · TALLER DE DECISIONES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2A4FB5-F156-43FF-A10F-894533FE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19777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9D929-909E-4F5C-BAE7-341E3D18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07 · TITULARIDAD Y DEPENDENCIAS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367CA-863B-4746-BF07-AA484EC6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F2933"/>
                </a:solidFill>
              </a:defRPr>
            </a:pPr>
            <a:r>
              <a:rPr sz="3375" b="1" i="0">
                <a:solidFill>
                  <a:srgbClr val="1F2933"/>
                </a:solidFill>
              </a:rPr>
              <a:t>Las cuentas y el dominio deben sobrevivir al equipo técnico.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8D887-4C85-426D-83F1-C177EA89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FE888-DD2A-4AE0-9023-25D91FA8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Recomendación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233D4-D51C-43DC-908B-55A3F6EF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203A3F"/>
                </a:solidFill>
              </a:defRPr>
            </a:pPr>
            <a:r>
              <a:rPr sz="2475" b="1" i="0">
                <a:solidFill>
                  <a:srgbClr val="203A3F"/>
                </a:solidFill>
              </a:rPr>
              <a:t>Todo recurso operativo queda a nombre de Orlando.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099A8-07FE-41DE-95D7-E561560D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A666D-E419-4AB6-A977-9C3E4E86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86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2933"/>
                </a:solidFill>
              </a:defRPr>
            </a:pPr>
            <a:r>
              <a:rPr sz="1050" b="1" i="0">
                <a:solidFill>
                  <a:srgbClr val="1F2933"/>
                </a:solidFill>
              </a:rPr>
              <a:t>Dominio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B89D2-7B11-407F-9CA0-48B175D8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86175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7747A"/>
                </a:solidFill>
              </a:defRPr>
            </a:pPr>
            <a:r>
              <a:rPr sz="975" b="0" i="0">
                <a:solidFill>
                  <a:srgbClr val="67747A"/>
                </a:solidFill>
              </a:rPr>
              <a:t>Registro, renovación y DNS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827DB-175A-4BA4-88FA-F6781C2D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861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3A3F"/>
                </a:solidFill>
              </a:defRPr>
            </a:pPr>
            <a:r>
              <a:rPr sz="975" b="1" i="0">
                <a:solidFill>
                  <a:srgbClr val="203A3F"/>
                </a:solidFill>
              </a:rPr>
              <a:t>Orlando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95885-16F3-4D06-BD23-D2364607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742B6-CA2B-42EE-834C-58FE162E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862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2933"/>
                </a:solidFill>
              </a:defRPr>
            </a:pPr>
            <a:r>
              <a:rPr sz="1050" b="1" i="0">
                <a:solidFill>
                  <a:srgbClr val="1F2933"/>
                </a:solidFill>
              </a:rPr>
              <a:t>GitHub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5985D-B0D0-4E01-BD10-9B055F99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86225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7747A"/>
                </a:solidFill>
              </a:defRPr>
            </a:pPr>
            <a:r>
              <a:rPr sz="975" b="0" i="0">
                <a:solidFill>
                  <a:srgbClr val="67747A"/>
                </a:solidFill>
              </a:rPr>
              <a:t>Repositorio y GitHub Pages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9F0F6-24E0-4898-8B1D-8DE03E34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862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3A3F"/>
                </a:solidFill>
              </a:defRPr>
            </a:pPr>
            <a:r>
              <a:rPr sz="975" b="1" i="0">
                <a:solidFill>
                  <a:srgbClr val="203A3F"/>
                </a:solidFill>
              </a:rPr>
              <a:t>Orlando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D197F-1EF9-4138-B733-C404F968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13738-1019-4A5B-A77F-9DCBBE8A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862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2933"/>
                </a:solidFill>
              </a:defRPr>
            </a:pPr>
            <a:r>
              <a:rPr sz="1050" b="1" i="0">
                <a:solidFill>
                  <a:srgbClr val="1F2933"/>
                </a:solidFill>
              </a:rPr>
              <a:t>Cloudflare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D2A0C-9548-4CBD-8A4A-A79C56A5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86275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7747A"/>
                </a:solidFill>
              </a:defRPr>
            </a:pPr>
            <a:r>
              <a:rPr sz="975" b="0" i="0">
                <a:solidFill>
                  <a:srgbClr val="67747A"/>
                </a:solidFill>
              </a:rPr>
              <a:t>Zona, Access y Worker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8FA71-3785-4E93-8C5E-1B33E4E8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862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3A3F"/>
                </a:solidFill>
              </a:defRPr>
            </a:pPr>
            <a:r>
              <a:rPr sz="975" b="1" i="0">
                <a:solidFill>
                  <a:srgbClr val="203A3F"/>
                </a:solidFill>
              </a:rPr>
              <a:t>Orlando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05DA8-8C5A-4FA9-84EE-F9A0BF9D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9A088-C929-42ED-97D5-F46BBA24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863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2933"/>
                </a:solidFill>
              </a:defRPr>
            </a:pPr>
            <a:r>
              <a:rPr sz="1050" b="1" i="0">
                <a:solidFill>
                  <a:srgbClr val="1F2933"/>
                </a:solidFill>
              </a:rPr>
              <a:t>Google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E5015-8D06-42B0-8357-1E00935D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86325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7747A"/>
                </a:solidFill>
              </a:defRPr>
            </a:pPr>
            <a:r>
              <a:rPr sz="975" b="0" i="0">
                <a:solidFill>
                  <a:srgbClr val="67747A"/>
                </a:solidFill>
              </a:rPr>
              <a:t>Sheets, Drive y Apps Script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2EBD2-3EE5-4572-A9FD-37F94D06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8863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3A3F"/>
                </a:solidFill>
              </a:defRPr>
            </a:pPr>
            <a:r>
              <a:rPr sz="975" b="1" i="0">
                <a:solidFill>
                  <a:srgbClr val="203A3F"/>
                </a:solidFill>
              </a:rPr>
              <a:t>Orlando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87E06-E855-4497-B404-6A0822D2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720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141D6B-726E-44C4-B6AF-BF98E6DB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2933"/>
                </a:solidFill>
              </a:defRPr>
            </a:pPr>
            <a:r>
              <a:rPr sz="1050" b="1" i="0">
                <a:solidFill>
                  <a:srgbClr val="1F2933"/>
                </a:solidFill>
              </a:rPr>
              <a:t>Canales/API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52D2D-01DD-41E3-90D9-F1D3B622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86375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7747A"/>
                </a:solidFill>
              </a:defRPr>
            </a:pPr>
            <a:r>
              <a:rPr sz="975" b="0" i="0">
                <a:solidFill>
                  <a:srgbClr val="67747A"/>
                </a:solidFill>
              </a:rPr>
              <a:t>Negocio, permisos y credenciales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2A62D6-1C49-4F95-B17A-1CA6B149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2863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03A3F"/>
                </a:solidFill>
              </a:defRPr>
            </a:pPr>
            <a:r>
              <a:rPr sz="975" b="1" i="0">
                <a:solidFill>
                  <a:srgbClr val="203A3F"/>
                </a:solidFill>
              </a:rPr>
              <a:t>Orlando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D77756-F58A-48F9-8F2D-7E87D46D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38085"/>
                </a:solidFill>
              </a:defRPr>
            </a:pPr>
            <a:r>
              <a:rPr sz="675" b="1" i="0">
                <a:solidFill>
                  <a:srgbClr val="738085"/>
                </a:solidFill>
              </a:rPr>
              <a:t>BALO INMOBILIARIA · TALLER DE DECISIONES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32B2A6-80D9-44FD-8B66-79D65599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09989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3A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57C32-B6B9-40A5-825E-F8D48E19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ABF7B"/>
                </a:solidFill>
              </a:defRPr>
            </a:pPr>
            <a:r>
              <a:rPr sz="900" b="1" i="0">
                <a:solidFill>
                  <a:srgbClr val="DABF7B"/>
                </a:solidFill>
              </a:rPr>
              <a:t>08 · COSTE Y UMBRALES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3DDDF-9292-4406-A5F4-B6C44826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4F1EA"/>
                </a:solidFill>
              </a:defRPr>
            </a:pPr>
            <a:r>
              <a:rPr sz="3375" b="1" i="0">
                <a:solidFill>
                  <a:srgbClr val="F4F1EA"/>
                </a:solidFill>
              </a:rPr>
              <a:t>Empezar en USD 0/mes. Pagar solo al encontrar un límite medido.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A6593-6D96-40B3-A7F9-F7B3D06A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7AB9B-84D7-48E5-BA51-488748C2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ABF7B"/>
                </a:solidFill>
              </a:defRPr>
            </a:pPr>
            <a:r>
              <a:rPr sz="900" b="1" i="0">
                <a:solidFill>
                  <a:srgbClr val="DABF7B"/>
                </a:solidFill>
              </a:rPr>
              <a:t>PILOTO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3C6DB-1D39-41B5-81A2-CB66BF12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USD 0/mes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C9F21-0B5F-4459-A9AA-FC626ED4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CE6E4"/>
                </a:solidFill>
              </a:defRPr>
            </a:pPr>
            <a:r>
              <a:rPr sz="1275" b="0" i="0">
                <a:solidFill>
                  <a:srgbClr val="DCE6E4"/>
                </a:solidFill>
              </a:rPr>
              <a:t>GitHub Pages · Cloudflare Workers Free · Cloudflare Access Free · Google Sheets/Drive existentes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FFE8E-1376-4EA8-AB84-EF3F55E5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38375"/>
            <a:ext cx="3571875" cy="26670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2B4B50"/>
          </a:solidFill>
          <a:ln xmlns:a="http://schemas.openxmlformats.org/drawingml/2006/main" w="9525">
            <a:solidFill>
              <a:srgbClr val="5470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EFB78-5433-4A80-9F7D-7103A3D3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ABF7B"/>
                </a:solidFill>
              </a:defRPr>
            </a:pPr>
            <a:r>
              <a:rPr sz="825" b="1" i="0">
                <a:solidFill>
                  <a:srgbClr val="DABF7B"/>
                </a:solidFill>
              </a:rPr>
              <a:t>CUÁNDO REVISAR UN PLAN DE PAGO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1B487-3EE8-4E2A-81EC-B3DC8AF4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19425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• Límite de uso observado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• Más de 50 usuarios de acceso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• Necesidad de soporte formal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• Operación que ya no cabe en Sheets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CD839-EDF5-4969-931A-147AF439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E9DBC1"/>
                </a:solidFill>
              </a:defRPr>
            </a:pPr>
            <a:r>
              <a:rPr sz="1650" b="0" i="1">
                <a:solidFill>
                  <a:srgbClr val="E9DBC1"/>
                </a:solidFill>
              </a:rPr>
              <a:t>La discusión no es “¿es un negocio?”; es “¿qué necesidad real justifica el coste y quién es el titular?”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B2392-D28A-4711-BE13-952A8A2C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B7C5C3"/>
                </a:solidFill>
              </a:defRPr>
            </a:pPr>
            <a:r>
              <a:rPr sz="675" b="1" i="0">
                <a:solidFill>
                  <a:srgbClr val="B7C5C3"/>
                </a:solidFill>
              </a:rPr>
              <a:t>BALO INMOBILIARIA · TALLER DE DECISIONES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A2363-788E-4F1A-8064-36E682BD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DABF7B"/>
                </a:solidFill>
              </a:defRPr>
            </a:pPr>
            <a:r>
              <a:rPr sz="750" b="1" i="0">
                <a:solidFill>
                  <a:srgbClr val="DABF7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111081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C023AA-3D99-4FC6-A672-9306D70C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09 · DECISIONES PARA ORLANDO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2A92D-3065-4622-9D83-6C32FADB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F2933"/>
                </a:solidFill>
              </a:defRPr>
            </a:pPr>
            <a:r>
              <a:rPr sz="3375" b="1" i="0">
                <a:solidFill>
                  <a:srgbClr val="1F2933"/>
                </a:solidFill>
              </a:rPr>
              <a:t>Lo que necesitamos validar hoy antes de pasar a diseño y desarrollo.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49205-CB83-4BEE-9AE7-03CB3999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5D455-9DF4-4BC0-8940-BF5CCA1F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5265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RECOMENDACIÓN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513AA-1744-4907-A3A4-4575D68B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2190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IMPACTO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BEC75-C60A-4E4B-8828-8EB12D2F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52650"/>
            <a:ext cx="1952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RESPONSABLE / VALIDACIÓN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977A3-FF2A-4519-9D45-9A2ED492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06680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17EB7-0CCE-4C0F-99D0-173A558E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DOMINIO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52CA1-F334-4CC5-B419-EDCE3636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146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2933"/>
                </a:solidFill>
              </a:defRPr>
            </a:pPr>
            <a:r>
              <a:rPr sz="1125" b="1" i="0">
                <a:solidFill>
                  <a:srgbClr val="1F2933"/>
                </a:solidFill>
              </a:rPr>
              <a:t>Elegir nombre, registrador y titularidad a nombre de Orlando.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AF7CD-0743-4F01-A6CB-C976C915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747A"/>
                </a:solidFill>
              </a:defRPr>
            </a:pPr>
            <a:r>
              <a:rPr sz="900" b="0" i="0">
                <a:solidFill>
                  <a:srgbClr val="67747A"/>
                </a:solidFill>
              </a:rPr>
              <a:t>Define la presencia pública y la ruta segura del portal.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B4EB4-1176-40B7-A92C-596CBE66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03A3F"/>
                </a:solidFill>
              </a:defRPr>
            </a:pPr>
            <a:r>
              <a:rPr sz="900" b="1" i="0">
                <a:solidFill>
                  <a:srgbClr val="203A3F"/>
                </a:solidFill>
              </a:rPr>
              <a:t>Orlando  ☐ Validar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FE6F9-A81C-47C4-AF32-8F1644CF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06680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C03EE-8930-4936-9E22-27C4F4B5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CUENTAS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92534-F52A-4700-91AE-109CC01F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385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2933"/>
                </a:solidFill>
              </a:defRPr>
            </a:pPr>
            <a:r>
              <a:rPr sz="1125" b="1" i="0">
                <a:solidFill>
                  <a:srgbClr val="1F2933"/>
                </a:solidFill>
              </a:rPr>
              <a:t>Crear GitHub, Google y Cloudflare del cliente; dar acceso mínimo al equipo.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7E8FA-0F09-4088-B2EA-B7569777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747A"/>
                </a:solidFill>
              </a:defRPr>
            </a:pPr>
            <a:r>
              <a:rPr sz="900" b="0" i="0">
                <a:solidFill>
                  <a:srgbClr val="67747A"/>
                </a:solidFill>
              </a:rPr>
              <a:t>Evita dependencia de cuentas técnicas.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92465-CE70-427F-95E0-0E50DEC3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956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03A3F"/>
                </a:solidFill>
              </a:defRPr>
            </a:pPr>
            <a:r>
              <a:rPr sz="900" b="1" i="0">
                <a:solidFill>
                  <a:srgbClr val="203A3F"/>
                </a:solidFill>
              </a:rPr>
              <a:t>Orlando  ☐ Validar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FF4FB-77C0-42B4-99C1-16740EC1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6680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493E9F-AF72-4A1E-BFD2-FF5EDBCD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CONSENTIMIENTO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F21CC-9CE6-466F-976B-85D2CF3D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624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2933"/>
                </a:solidFill>
              </a:defRPr>
            </a:pPr>
            <a:r>
              <a:rPr sz="1125" b="1" i="0">
                <a:solidFill>
                  <a:srgbClr val="1F2933"/>
                </a:solidFill>
              </a:rPr>
              <a:t>Validar texto, WhatsApp oficial y responsable de respuesta.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D39B5-47A7-4D64-8AD3-74E24245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624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747A"/>
                </a:solidFill>
              </a:defRPr>
            </a:pPr>
            <a:r>
              <a:rPr sz="900" b="0" i="0">
                <a:solidFill>
                  <a:srgbClr val="67747A"/>
                </a:solidFill>
              </a:rPr>
              <a:t>Permite captar sin asumir autorización.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8AD55E-6671-421D-B472-D3EF1D63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195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03A3F"/>
                </a:solidFill>
              </a:defRPr>
            </a:pPr>
            <a:r>
              <a:rPr sz="900" b="1" i="0">
                <a:solidFill>
                  <a:srgbClr val="203A3F"/>
                </a:solidFill>
              </a:rPr>
              <a:t>Orlando  ☐ Validar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E3E7D-F7A1-45A0-BF6F-D98E607F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6680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9FE656-F967-4E01-8D08-9EEB33C5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OPERACIÓN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6694A8-210B-4325-B38C-E946D1BD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2933"/>
                </a:solidFill>
              </a:defRPr>
            </a:pPr>
            <a:r>
              <a:rPr sz="1125" b="1" i="0">
                <a:solidFill>
                  <a:srgbClr val="1F2933"/>
                </a:solidFill>
              </a:rPr>
              <a:t>Confirmar gestores iniciales y el SLA de aprobaciones.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F5DAE-9D37-42DC-BD84-DBC80C77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747A"/>
                </a:solidFill>
              </a:defRPr>
            </a:pPr>
            <a:r>
              <a:rPr sz="900" b="0" i="0">
                <a:solidFill>
                  <a:srgbClr val="67747A"/>
                </a:solidFill>
              </a:rPr>
              <a:t>Hace útil el control por asignación.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DD9EFB-C278-4DF8-8269-1B5CB597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434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03A3F"/>
                </a:solidFill>
              </a:defRPr>
            </a:pPr>
            <a:r>
              <a:rPr sz="900" b="1" i="0">
                <a:solidFill>
                  <a:srgbClr val="203A3F"/>
                </a:solidFill>
              </a:rPr>
              <a:t>Orlando  ☐ Validar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68D3BA-E08B-40AF-9272-A0BD2B1F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106680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1125FD-FD06-4DE7-AB08-1FD7CB6C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CANALES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851190-0ECC-4250-ACFF-6DCCB7D4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10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F2933"/>
                </a:solidFill>
              </a:defRPr>
            </a:pPr>
            <a:r>
              <a:rPr sz="1125" b="1" i="0">
                <a:solidFill>
                  <a:srgbClr val="1F2933"/>
                </a:solidFill>
              </a:rPr>
              <a:t>Priorizar un canal y mantener el registro manual hasta tener credenciales.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A1233B-D501-4CE4-871B-8FA45307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02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7747A"/>
                </a:solidFill>
              </a:defRPr>
            </a:pPr>
            <a:r>
              <a:rPr sz="900" b="0" i="0">
                <a:solidFill>
                  <a:srgbClr val="67747A"/>
                </a:solidFill>
              </a:rPr>
              <a:t>Reduce riesgo y permite aprender.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882DC1-76EE-43DC-87BE-769BEFE5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467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03A3F"/>
                </a:solidFill>
              </a:defRPr>
            </a:pPr>
            <a:r>
              <a:rPr sz="900" b="1" i="0">
                <a:solidFill>
                  <a:srgbClr val="203A3F"/>
                </a:solidFill>
              </a:rPr>
              <a:t>Orlando  ☐ Validar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326771-4BA4-4DB4-B006-64C24E32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7747A"/>
                </a:solidFill>
              </a:defRPr>
            </a:pPr>
            <a:r>
              <a:rPr sz="975" b="1" i="0">
                <a:solidFill>
                  <a:srgbClr val="67747A"/>
                </a:solidFill>
              </a:rPr>
              <a:t>Decisiones que no se validen hoy se posponen: no se sustituyen por supuestos técnicos.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0B9D32-FD80-43AF-B073-F1976E90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38085"/>
                </a:solidFill>
              </a:defRPr>
            </a:pPr>
            <a:r>
              <a:rPr sz="675" b="1" i="0">
                <a:solidFill>
                  <a:srgbClr val="738085"/>
                </a:solidFill>
              </a:rPr>
              <a:t>BALO INMOBILIARIA · TALLER DE DECISIONES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C85CCA-A6F6-4FE5-BE59-38080F3D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30887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2026-08-29T13:21:30.8470000Z</dcterms:created>
  <dcterms:modified xsi:type="dcterms:W3CDTF">2026-08-29T13:21:30.8470000Z</dcterms:modified>
</coreProperties>
</file>